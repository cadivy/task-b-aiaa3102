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a66f7a86314ef3" /><Relationship Type="http://schemas.openxmlformats.org/officeDocument/2006/relationships/extended-properties" Target="/docProps/app.xml" Id="Rdc1e9bbc5c304af6" /><Relationship Type="http://schemas.openxmlformats.org/officeDocument/2006/relationships/officeDocument" Target="/ppt/presentation.xml" Id="R971ac642573c45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da8e73306b4088"/>
  </p:sldMasterIdLst>
  <p:notesMasterIdLst>
    <p:notesMasterId xmlns:r="http://schemas.openxmlformats.org/officeDocument/2006/relationships" r:id="Re4492fcef782441a"/>
  </p:notesMasterIdLst>
  <p:sldIdLst>
    <p:sldId xmlns:r="http://schemas.openxmlformats.org/officeDocument/2006/relationships" id="256" r:id="R96e850a1163a43b3"/>
    <p:sldId xmlns:r="http://schemas.openxmlformats.org/officeDocument/2006/relationships" id="257" r:id="R9f318afea9da4809"/>
    <p:sldId xmlns:r="http://schemas.openxmlformats.org/officeDocument/2006/relationships" id="258" r:id="R37ea28fece57443c"/>
    <p:sldId xmlns:r="http://schemas.openxmlformats.org/officeDocument/2006/relationships" id="259" r:id="Rcefb332c74ca407e"/>
    <p:sldId xmlns:r="http://schemas.openxmlformats.org/officeDocument/2006/relationships" id="260" r:id="R839715d46a354475"/>
    <p:sldId xmlns:r="http://schemas.openxmlformats.org/officeDocument/2006/relationships" id="261" r:id="Ra99d8c83b9a6442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ed6e5b7b04445b" /><Relationship Type="http://schemas.openxmlformats.org/officeDocument/2006/relationships/slideMaster" Target="/ppt/slideMasters/slideMaster1.xml" Id="R63da8e73306b4088" /><Relationship Type="http://schemas.openxmlformats.org/officeDocument/2006/relationships/notesMaster" Target="/ppt/notesMasters/notesMaster1.xml" Id="Re4492fcef782441a" /><Relationship Type="http://schemas.openxmlformats.org/officeDocument/2006/relationships/presProps" Target="/ppt/presProps.xml" Id="Rf08de82c2928489e" /><Relationship Type="http://schemas.openxmlformats.org/officeDocument/2006/relationships/tableStyles" Target="/ppt/tableStyles.xml" Id="R34f1fcd394324865" /><Relationship Type="http://schemas.openxmlformats.org/officeDocument/2006/relationships/slide" Target="/ppt/slides/slide1.xml" Id="R96e850a1163a43b3" /><Relationship Type="http://schemas.openxmlformats.org/officeDocument/2006/relationships/slide" Target="/ppt/slides/slide2.xml" Id="R9f318afea9da4809" /><Relationship Type="http://schemas.openxmlformats.org/officeDocument/2006/relationships/slide" Target="/ppt/slides/slide3.xml" Id="R37ea28fece57443c" /><Relationship Type="http://schemas.openxmlformats.org/officeDocument/2006/relationships/slide" Target="/ppt/slides/slide4.xml" Id="Rcefb332c74ca407e" /><Relationship Type="http://schemas.openxmlformats.org/officeDocument/2006/relationships/slide" Target="/ppt/slides/slide5.xml" Id="R839715d46a354475" /><Relationship Type="http://schemas.openxmlformats.org/officeDocument/2006/relationships/slide" Target="/ppt/slides/slide6.xml" Id="Ra99d8c83b9a644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b58c4c402e49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74df215a4c4b18" /><Relationship Type="http://schemas.openxmlformats.org/officeDocument/2006/relationships/notesMaster" Target="/ppt/notesMasters/notesMaster1.xml" Id="R2d28a4ad5d8545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a2268a4d254cf7" /><Relationship Type="http://schemas.openxmlformats.org/officeDocument/2006/relationships/notesMaster" Target="/ppt/notesMasters/notesMaster1.xml" Id="R54d47d11bb2548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65a82a677c4122" /><Relationship Type="http://schemas.openxmlformats.org/officeDocument/2006/relationships/notesMaster" Target="/ppt/notesMasters/notesMaster1.xml" Id="Rc8e66fc6470e44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78aee0635f46aa" /><Relationship Type="http://schemas.openxmlformats.org/officeDocument/2006/relationships/notesMaster" Target="/ppt/notesMasters/notesMaster1.xml" Id="R3ae6662c741b44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3482951de74757" /><Relationship Type="http://schemas.openxmlformats.org/officeDocument/2006/relationships/notesMaster" Target="/ppt/notesMasters/notesMaster1.xml" Id="R3c0a224ca8f54a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15b7970127491b" /><Relationship Type="http://schemas.openxmlformats.org/officeDocument/2006/relationships/notesMaster" Target="/ppt/notesMasters/notesMaster1.xml" Id="Rb7468676d23c43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092f19f0fc42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6a5ebde8694a13" /><Relationship Type="http://schemas.openxmlformats.org/officeDocument/2006/relationships/slideLayout" Target="/ppt/slideLayouts/slideLayout1.xml" Id="Re19a658707824d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9a658707824d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f361123fb84d00" /><Relationship Type="http://schemas.openxmlformats.org/officeDocument/2006/relationships/notesSlide" Target="/ppt/notesSlides/notesSlide1.xml" Id="R86c616ccfa0947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055ddefc75402b" /><Relationship Type="http://schemas.openxmlformats.org/officeDocument/2006/relationships/image" Target="/ppt/media/image.png" Id="R04ab52dfcbca4dad" /><Relationship Type="http://schemas.openxmlformats.org/officeDocument/2006/relationships/notesSlide" Target="/ppt/notesSlides/notesSlide2.xml" Id="R79a33cf0fa614b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72826343a44614" /><Relationship Type="http://schemas.openxmlformats.org/officeDocument/2006/relationships/image" Target="/ppt/media/image2.png" Id="R150e1570e25e4323" /><Relationship Type="http://schemas.openxmlformats.org/officeDocument/2006/relationships/notesSlide" Target="/ppt/notesSlides/notesSlide3.xml" Id="R56c43a9b340349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9644e25d49405d" /><Relationship Type="http://schemas.openxmlformats.org/officeDocument/2006/relationships/notesSlide" Target="/ppt/notesSlides/notesSlide4.xml" Id="R08d5054b740347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9621f115d843b6" /><Relationship Type="http://schemas.openxmlformats.org/officeDocument/2006/relationships/image" Target="/ppt/media/image3.png" Id="Rcc19e4791f594a76" /><Relationship Type="http://schemas.openxmlformats.org/officeDocument/2006/relationships/notesSlide" Target="/ppt/notesSlides/notesSlide5.xml" Id="R69fc87dc4fe44ab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e81f714d844834" /><Relationship Type="http://schemas.openxmlformats.org/officeDocument/2006/relationships/image" Target="/ppt/media/image4.png" Id="R988a6ba33a284a14" /><Relationship Type="http://schemas.openxmlformats.org/officeDocument/2006/relationships/notesSlide" Target="/ppt/notesSlides/notesSlide6.xml" Id="Rf6629c17349b4e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D963CC-FF09-4018-9700-8CC5C5D1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82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2B2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440F14-BFDF-4F69-AA10-99F81115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E13843-16F9-45B6-80EF-B61B14D3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71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A7A7A"/>
                </a:solidFill>
              </a:defRPr>
            </a:pPr>
            <a:r>
              <a:rPr sz="1050" b="1">
                <a:solidFill>
                  <a:srgbClr val="7A7A7A"/>
                </a:solidFill>
              </a:rPr>
              <a:t>TARGET 5 · SHORTCUT FEATURES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5477F6-2A50-46BF-97CE-7E4FE6EB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95450"/>
            <a:ext cx="685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02020"/>
                </a:solidFill>
              </a:defRPr>
            </a:pPr>
            <a:r>
              <a:rPr sz="3750" b="1">
                <a:solidFill>
                  <a:srgbClr val="202020"/>
                </a:solidFill>
              </a:rPr>
              <a:t>模型拿到 99.10%，</a:t>
            </a:r>
          </a:p>
          <a:p xmlns:a="http://schemas.openxmlformats.org/drawingml/2006/main">
            <a:pPr algn="l">
              <a:defRPr sz="3750" b="1">
                <a:solidFill>
                  <a:srgbClr val="202020"/>
                </a:solidFill>
              </a:defRPr>
            </a:pPr>
            <a:r>
              <a:rPr sz="3750" b="1">
                <a:solidFill>
                  <a:srgbClr val="202020"/>
                </a:solidFill>
              </a:rPr>
              <a:t>真的理解了短信吗？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F2219F-C6D1-40AE-805B-C76CCBFE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7620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A7A7A"/>
                </a:solidFill>
              </a:defRPr>
            </a:pPr>
            <a:r>
              <a:rPr sz="1725" b="0">
                <a:solidFill>
                  <a:srgbClr val="7A7A7A"/>
                </a:solidFill>
              </a:rPr>
              <a:t>任务：量化长度、数字、联系方式、促销词和行序等浅层线索，</a:t>
            </a:r>
          </a:p>
          <a:p xmlns:a="http://schemas.openxmlformats.org/drawingml/2006/main">
            <a:pPr algn="l">
              <a:defRPr sz="1725" b="0">
                <a:solidFill>
                  <a:srgbClr val="7A7A7A"/>
                </a:solidFill>
              </a:defRPr>
            </a:pPr>
            <a:r>
              <a:rPr sz="1725" b="0">
                <a:solidFill>
                  <a:srgbClr val="7A7A7A"/>
                </a:solidFill>
              </a:rPr>
              <a:t>能解释多少 held-out 性能。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51881F-AD3D-473B-8866-CC54D273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433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20579E"/>
                </a:solidFill>
              </a:defRPr>
            </a:pPr>
            <a:r>
              <a:rPr sz="3450" b="1">
                <a:solidFill>
                  <a:srgbClr val="20579E"/>
                </a:solidFill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57C7BA-205A-491E-8D0A-EDACDA00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482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A7A7A"/>
                </a:solidFill>
              </a:defRPr>
            </a:pPr>
            <a:r>
              <a:rPr sz="1200" b="0">
                <a:solidFill>
                  <a:srgbClr val="7A7A7A"/>
                </a:solidFill>
              </a:rPr>
              <a:t>手工浅层特征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1C2447-9DA8-4E83-831E-3F0C52E2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9433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20579E"/>
                </a:solidFill>
              </a:defRPr>
            </a:pPr>
            <a:r>
              <a:rPr sz="3450" b="1">
                <a:solidFill>
                  <a:srgbClr val="20579E"/>
                </a:solidFill>
              </a:rPr>
              <a:t>98.20%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F28403-E9A6-43CB-BAC3-DFD48F76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6482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A7A7A"/>
                </a:solidFill>
              </a:defRPr>
            </a:pPr>
            <a:r>
              <a:rPr sz="1200" b="0">
                <a:solidFill>
                  <a:srgbClr val="7A7A7A"/>
                </a:solidFill>
              </a:rPr>
              <a:t>all-shallow accuracy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D1446B-D8D0-4794-8DF2-34A537E0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433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26A35"/>
                </a:solidFill>
              </a:defRPr>
            </a:pPr>
            <a:r>
              <a:rPr sz="3450" b="1">
                <a:solidFill>
                  <a:srgbClr val="F26A35"/>
                </a:solidFill>
              </a:rPr>
              <a:t>0.90 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E7CCD9-5727-4B75-BBDE-6068AD45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6482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A7A7A"/>
                </a:solidFill>
              </a:defRPr>
            </a:pPr>
            <a:r>
              <a:rPr sz="1200" b="0">
                <a:solidFill>
                  <a:srgbClr val="7A7A7A"/>
                </a:solidFill>
              </a:rPr>
              <a:t>距 full-text 的准确率差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8B0F8D-DE98-40B8-99F5-46BF13A9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810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A7A7A"/>
                </a:solidFill>
              </a:defRPr>
            </a:pPr>
            <a:r>
              <a:rPr sz="975" b="1">
                <a:solidFill>
                  <a:srgbClr val="7A7A7A"/>
                </a:solidFill>
              </a:rPr>
              <a:t>CADIVY</a:t>
            </a:r>
          </a:p>
        </p:txBody>
      </p:sp>
    </p:spTree>
    <p:extLst>
      <p:ext uri="{BB962C8B-B14F-4D97-AF65-F5344CB8AC3E}">
        <p14:creationId xmlns:p14="http://schemas.microsoft.com/office/powerpoint/2010/main" val="13579941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rame-2">
            <a:extLst xmlns:a="http://schemas.openxmlformats.org/drawingml/2006/main">
              <a:ext uri="{FF2B5EF4-FFF2-40B4-BE49-F238E27FC236}">
                <a16:creationId xmlns:a16="http://schemas.microsoft.com/office/drawing/2014/main" id="{5E9D347B-A286-411C-987A-7FFAD0AA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1163300" cy="617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2B2B"/>
            </a:solidFill>
            <a:prstDash val="solid"/>
          </a:ln>
        </p:spPr>
      </p:sp>
      <p:sp>
        <p:nvSpPr>
          <p:cNvPr id="2" name="section-2">
            <a:extLst xmlns:a="http://schemas.openxmlformats.org/drawingml/2006/main">
              <a:ext uri="{FF2B5EF4-FFF2-40B4-BE49-F238E27FC236}">
                <a16:creationId xmlns:a16="http://schemas.microsoft.com/office/drawing/2014/main" id="{13220364-D697-4593-8CAE-2B29EB17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7A7A"/>
                </a:solidFill>
              </a:defRPr>
            </a:pPr>
            <a:r>
              <a:rPr sz="975" b="1">
                <a:solidFill>
                  <a:srgbClr val="7A7A7A"/>
                </a:solidFill>
              </a:rPr>
              <a:t>TARGET 5 · METHODOLOGY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3C299CCB-2B67-4624-82FE-A72407A5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3820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020"/>
                </a:solidFill>
              </a:defRPr>
            </a:pPr>
            <a:r>
              <a:rPr sz="2700" b="1">
                <a:solidFill>
                  <a:srgbClr val="202020"/>
                </a:solidFill>
              </a:rPr>
              <a:t>公平比较：只改变特征，不改变分类器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91586190-E0F9-44B2-BFE2-681F6CA4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096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A7A7A"/>
                </a:solidFill>
              </a:defRPr>
            </a:pPr>
            <a:r>
              <a:rPr sz="900" b="0">
                <a:solidFill>
                  <a:srgbClr val="7A7A7A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5E8DF2-079B-4AAA-BEBC-0AF4DA1E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020"/>
                </a:solidFill>
              </a:defRPr>
            </a:pPr>
            <a:r>
              <a:rPr sz="1500" b="1">
                <a:solidFill>
                  <a:srgbClr val="202020"/>
                </a:solidFill>
              </a:rPr>
              <a:t>固定数据与评估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8C0E52-9754-4A72-B829-3EE3DB91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276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A7A7A"/>
                </a:solidFill>
              </a:defRPr>
            </a:pPr>
            <a:r>
              <a:rPr sz="1350" b="0">
                <a:solidFill>
                  <a:srgbClr val="7A7A7A"/>
                </a:solidFill>
              </a:rPr>
              <a:t>train 4,460 / heldout 1,114</a:t>
            </a:r>
          </a:p>
          <a:p xmlns:a="http://schemas.openxmlformats.org/drawingml/2006/main">
            <a:pPr algn="l">
              <a:defRPr sz="1350" b="0">
                <a:solidFill>
                  <a:srgbClr val="7A7A7A"/>
                </a:solidFill>
              </a:defRPr>
            </a:pPr>
            <a:r>
              <a:rPr sz="1350" b="0">
                <a:solidFill>
                  <a:srgbClr val="7A7A7A"/>
                </a:solidFill>
              </a:rPr>
              <a:t>SEED = 42</a:t>
            </a:r>
          </a:p>
          <a:p xmlns:a="http://schemas.openxmlformats.org/drawingml/2006/main">
            <a:pPr algn="l">
              <a:defRPr sz="1350" b="0">
                <a:solidFill>
                  <a:srgbClr val="7A7A7A"/>
                </a:solidFill>
              </a:defRPr>
            </a:pPr>
            <a:r>
              <a:rPr sz="1350" b="0">
                <a:solidFill>
                  <a:srgbClr val="7A7A7A"/>
                </a:solidFill>
              </a:rPr>
              <a:t>heldout 标签永不修改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D67677-B700-4B69-BC11-E1CE6544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020"/>
                </a:solidFill>
              </a:defRPr>
            </a:pPr>
            <a:r>
              <a:rPr sz="1500" b="1">
                <a:solidFill>
                  <a:srgbClr val="202020"/>
                </a:solidFill>
              </a:rPr>
              <a:t>同一模型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D961AA-009B-4FC9-A26A-FDEA277A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A7A7A"/>
                </a:solidFill>
              </a:defRPr>
            </a:pPr>
            <a:r>
              <a:rPr sz="1275" b="0">
                <a:solidFill>
                  <a:srgbClr val="7A7A7A"/>
                </a:solidFill>
              </a:rPr>
              <a:t>StandardScaler + Logistic Regression</a:t>
            </a:r>
          </a:p>
          <a:p xmlns:a="http://schemas.openxmlformats.org/drawingml/2006/main">
            <a:pPr algn="l">
              <a:defRPr sz="1275" b="0">
                <a:solidFill>
                  <a:srgbClr val="7A7A7A"/>
                </a:solidFill>
              </a:defRPr>
            </a:pPr>
            <a:r>
              <a:rPr sz="1275" b="0">
                <a:solidFill>
                  <a:srgbClr val="7A7A7A"/>
                </a:solidFill>
              </a:rPr>
              <a:t>对照：row position / masked text / full text</a:t>
            </a:r>
          </a:p>
          <a:p xmlns:a="http://schemas.openxmlformats.org/drawingml/2006/main">
            <a:pPr algn="l">
              <a:defRPr sz="1275" b="0">
                <a:solidFill>
                  <a:srgbClr val="7A7A7A"/>
                </a:solidFill>
              </a:defRPr>
            </a:pPr>
            <a:r>
              <a:rPr sz="1275" b="0">
                <a:solidFill>
                  <a:srgbClr val="7A7A7A"/>
                </a:solidFill>
              </a:rPr>
              <a:t>统一报告 accuracy、spam recall、spam F1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ab52dfcbca4dad"/>
          <a:stretch xmlns:a="http://schemas.openxmlformats.org/drawingml/2006/main"/>
        </p:blipFill>
        <p:spPr>
          <a:xfrm xmlns:a="http://schemas.openxmlformats.org/drawingml/2006/main">
            <a:off x="4476750" y="1800003"/>
            <a:ext cx="6724650" cy="3753293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192190-0B17-4317-82E3-EA54E7B9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6197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A7A7A"/>
                </a:solidFill>
              </a:defRPr>
            </a:pPr>
            <a:r>
              <a:rPr sz="1200" b="0">
                <a:solidFill>
                  <a:srgbClr val="7A7A7A"/>
                </a:solidFill>
              </a:rPr>
              <a:t>先看线索分布，再看同算法下能否逼近完整文本模型。</a:t>
            </a:r>
          </a:p>
        </p:txBody>
      </p:sp>
    </p:spTree>
    <p:extLst>
      <p:ext uri="{BB962C8B-B14F-4D97-AF65-F5344CB8AC3E}">
        <p14:creationId xmlns:p14="http://schemas.microsoft.com/office/powerpoint/2010/main" val="17478991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frame-3">
            <a:extLst xmlns:a="http://schemas.openxmlformats.org/drawingml/2006/main">
              <a:ext uri="{FF2B5EF4-FFF2-40B4-BE49-F238E27FC236}">
                <a16:creationId xmlns:a16="http://schemas.microsoft.com/office/drawing/2014/main" id="{CC66584E-CEA3-4C3B-9DE5-5BAB2149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1163300" cy="617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2B2B"/>
            </a:solidFill>
            <a:prstDash val="solid"/>
          </a:ln>
        </p:spPr>
      </p:sp>
      <p:sp>
        <p:nvSpPr>
          <p:cNvPr id="2" name="section-3">
            <a:extLst xmlns:a="http://schemas.openxmlformats.org/drawingml/2006/main">
              <a:ext uri="{FF2B5EF4-FFF2-40B4-BE49-F238E27FC236}">
                <a16:creationId xmlns:a16="http://schemas.microsoft.com/office/drawing/2014/main" id="{3A0C869B-67D1-4E82-A777-B7BE0C51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7A7A"/>
                </a:solidFill>
              </a:defRPr>
            </a:pPr>
            <a:r>
              <a:rPr sz="975" b="1">
                <a:solidFill>
                  <a:srgbClr val="7A7A7A"/>
                </a:solidFill>
              </a:rPr>
              <a:t>TARGET 5 · OUTCOME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4008AC01-A3BB-4F21-B744-940B535C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3820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020"/>
                </a:solidFill>
              </a:defRPr>
            </a:pPr>
            <a:r>
              <a:rPr sz="2700" b="1">
                <a:solidFill>
                  <a:srgbClr val="202020"/>
                </a:solidFill>
              </a:rPr>
              <a:t>浅层线索几乎复现了完整文本模型的表现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1FCD1393-9BFE-451A-B865-7CA27D2C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096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A7A7A"/>
                </a:solidFill>
              </a:defRPr>
            </a:pPr>
            <a:r>
              <a:rPr sz="900" b="0">
                <a:solidFill>
                  <a:srgbClr val="7A7A7A"/>
                </a:solidFill>
              </a:rPr>
              <a:t>03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0e1570e25e4323"/>
          <a:stretch xmlns:a="http://schemas.openxmlformats.org/drawingml/2006/main"/>
        </p:blipFill>
        <p:spPr>
          <a:xfrm xmlns:a="http://schemas.openxmlformats.org/drawingml/2006/main">
            <a:off x="876300" y="1828346"/>
            <a:ext cx="7810500" cy="386805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BB47D1-37B5-4F9A-B420-D59324CD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62150"/>
            <a:ext cx="2247900" cy="29146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0FF563-FEB0-4A01-81CA-C852122C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90750"/>
            <a:ext cx="190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0579E"/>
                </a:solidFill>
              </a:defRPr>
            </a:pPr>
            <a:r>
              <a:rPr sz="3000" b="1">
                <a:solidFill>
                  <a:srgbClr val="20579E"/>
                </a:solidFill>
              </a:rPr>
              <a:t>98.11%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D40A17-49FA-4A29-B5ED-93E53972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194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A7A7A"/>
                </a:solidFill>
              </a:defRPr>
            </a:pPr>
            <a:r>
              <a:rPr sz="1200" b="0">
                <a:solidFill>
                  <a:srgbClr val="7A7A7A"/>
                </a:solidFill>
              </a:rPr>
              <a:t>contact + promotion</a:t>
            </a:r>
          </a:p>
          <a:p xmlns:a="http://schemas.openxmlformats.org/drawingml/2006/main">
            <a:pPr algn="ctr">
              <a:defRPr sz="1200" b="0">
                <a:solidFill>
                  <a:srgbClr val="7A7A7A"/>
                </a:solidFill>
              </a:defRPr>
            </a:pPr>
            <a:r>
              <a:rPr sz="1200" b="0">
                <a:solidFill>
                  <a:srgbClr val="7A7A7A"/>
                </a:solidFill>
              </a:rPr>
              <a:t>accuracy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B098AE-F019-44C8-AF67-4BDE5D19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814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26A35"/>
                </a:solidFill>
              </a:defRPr>
            </a:pPr>
            <a:r>
              <a:rPr sz="2550" b="1">
                <a:solidFill>
                  <a:srgbClr val="F26A35"/>
                </a:solidFill>
              </a:rPr>
              <a:t>−0.90 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159AFE-59E5-4AB0-972C-2566B44D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1148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A7A7A"/>
                </a:solidFill>
              </a:defRPr>
            </a:pPr>
            <a:r>
              <a:rPr sz="1200" b="0">
                <a:solidFill>
                  <a:srgbClr val="7A7A7A"/>
                </a:solidFill>
              </a:rPr>
              <a:t>距离 full 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74838C-00A2-4D8B-8DC4-1E851124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1625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020"/>
                </a:solidFill>
              </a:defRPr>
            </a:pPr>
            <a:r>
              <a:rPr sz="1275" b="1">
                <a:solidFill>
                  <a:srgbClr val="202020"/>
                </a:solidFill>
              </a:rPr>
              <a:t>行序 = 多数类基线</a:t>
            </a:r>
          </a:p>
          <a:p xmlns:a="http://schemas.openxmlformats.org/drawingml/2006/main">
            <a:pPr algn="ctr">
              <a:defRPr sz="1275" b="1">
                <a:solidFill>
                  <a:srgbClr val="202020"/>
                </a:solidFill>
              </a:defRPr>
            </a:pPr>
            <a:r>
              <a:rPr sz="1275" b="1">
                <a:solidFill>
                  <a:srgbClr val="202020"/>
                </a:solidFill>
              </a:rPr>
              <a:t>→ 没有 row-order shortcut</a:t>
            </a:r>
          </a:p>
        </p:txBody>
      </p:sp>
    </p:spTree>
    <p:extLst>
      <p:ext uri="{BB962C8B-B14F-4D97-AF65-F5344CB8AC3E}">
        <p14:creationId xmlns:p14="http://schemas.microsoft.com/office/powerpoint/2010/main" val="19216679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frame-4">
            <a:extLst xmlns:a="http://schemas.openxmlformats.org/drawingml/2006/main">
              <a:ext uri="{FF2B5EF4-FFF2-40B4-BE49-F238E27FC236}">
                <a16:creationId xmlns:a16="http://schemas.microsoft.com/office/drawing/2014/main" id="{C19ADE8C-2A39-4295-B33B-14D76880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1163300" cy="617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2B2B"/>
            </a:solidFill>
            <a:prstDash val="solid"/>
          </a:ln>
        </p:spPr>
      </p:sp>
      <p:sp>
        <p:nvSpPr>
          <p:cNvPr id="2" name="section-4">
            <a:extLst xmlns:a="http://schemas.openxmlformats.org/drawingml/2006/main">
              <a:ext uri="{FF2B5EF4-FFF2-40B4-BE49-F238E27FC236}">
                <a16:creationId xmlns:a16="http://schemas.microsoft.com/office/drawing/2014/main" id="{3949EDB3-9196-4E8B-BA53-10FF1962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7A7A"/>
                </a:solidFill>
              </a:defRPr>
            </a:pPr>
            <a:r>
              <a:rPr sz="975" b="1">
                <a:solidFill>
                  <a:srgbClr val="7A7A7A"/>
                </a:solidFill>
              </a:rPr>
              <a:t>TARGET 5 · STRESS CASES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C04D0135-55CB-4BFD-A693-850369A9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3820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020"/>
                </a:solidFill>
              </a:defRPr>
            </a:pPr>
            <a:r>
              <a:rPr sz="2700" b="1">
                <a:solidFill>
                  <a:srgbClr val="202020"/>
                </a:solidFill>
              </a:rPr>
              <a:t>捷径既会误伤正常短信，也会漏掉真正 spam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BE8C96A9-8D1E-4F54-8E60-DA5B6F6E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096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A7A7A"/>
                </a:solidFill>
              </a:defRPr>
            </a:pPr>
            <a:r>
              <a:rPr sz="900" b="0">
                <a:solidFill>
                  <a:srgbClr val="7A7A7A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A43AA0-B12D-49C4-8E44-BC0A8D8F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3257550" cy="34290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D419AC-C2FB-4FCA-9E58-F7B90435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57400"/>
            <a:ext cx="102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A35"/>
                </a:solidFill>
              </a:defRPr>
            </a:pPr>
            <a:r>
              <a:rPr sz="1500" b="1">
                <a:solidFill>
                  <a:srgbClr val="F26A35"/>
                </a:solidFill>
              </a:rPr>
              <a:t>H0946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CF40DA-7285-475F-B93C-520A64E5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0574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A7A7A"/>
                </a:solidFill>
              </a:defRPr>
            </a:pPr>
            <a:r>
              <a:rPr sz="1050" b="0">
                <a:solidFill>
                  <a:srgbClr val="7A7A7A"/>
                </a:solidFill>
              </a:rPr>
              <a:t>ham · false positive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02741A-CF68-4DD4-A26E-7E7DD12F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43175"/>
            <a:ext cx="28765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“$140…$180…$900”</a:t>
            </a:r>
          </a:p>
          <a:p xmlns:a="http://schemas.openxmlformats.org/drawingml/2006/main"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普通租房价格讨论，被数字与金额线索推向 spam。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22682B-1CFC-4D89-8768-A34DE540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0"/>
            <a:ext cx="2876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solidFill>
              <a:srgbClr val="D5D5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B66361-7362-4292-939F-EFB5278B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10050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6A35"/>
                </a:solidFill>
              </a:defRPr>
            </a:pPr>
            <a:r>
              <a:rPr sz="1125" b="1">
                <a:solidFill>
                  <a:srgbClr val="F26A35"/>
                </a:solidFill>
              </a:rPr>
              <a:t>shallow  0.992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AE8BD5-42DE-4798-954C-45286D3D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21005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full text  0.028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57C92D-23F3-4B1E-8B9A-1CBFA2E2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885950"/>
            <a:ext cx="3257550" cy="34290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9D47FD-8CAC-4A25-883F-653C2389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057400"/>
            <a:ext cx="102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579E"/>
                </a:solidFill>
              </a:defRPr>
            </a:pPr>
            <a:r>
              <a:rPr sz="1500" b="1">
                <a:solidFill>
                  <a:srgbClr val="20579E"/>
                </a:solidFill>
              </a:rPr>
              <a:t>H0044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8B4F63-141B-4391-B85C-36269CBD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0574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A7A7A"/>
                </a:solidFill>
              </a:defRPr>
            </a:pPr>
            <a:r>
              <a:rPr sz="1050" b="0">
                <a:solidFill>
                  <a:srgbClr val="7A7A7A"/>
                </a:solidFill>
              </a:rPr>
              <a:t>spam · false negative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B46933-593E-4F70-AEB1-D96E8539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543175"/>
            <a:ext cx="28765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Ringtone Club 招揽没有典型电话/金额模式，浅层模型几乎完全漏检。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022DFE-2B79-4C4A-9C73-DE96D7CA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000500"/>
            <a:ext cx="2876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solidFill>
              <a:srgbClr val="D5D5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7FE602-830B-4B78-9707-BD4BC755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10050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579E"/>
                </a:solidFill>
              </a:defRPr>
            </a:pPr>
            <a:r>
              <a:rPr sz="1125" b="1">
                <a:solidFill>
                  <a:srgbClr val="20579E"/>
                </a:solidFill>
              </a:rPr>
              <a:t>shallow  0.085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C4291D-0CF9-4237-8725-C84FFE07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21005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full text  0.961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0B0253-B85C-4CDF-AC1B-1C89BF73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85950"/>
            <a:ext cx="3257550" cy="34290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F96424-E20B-4153-B696-814B9DDE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57400"/>
            <a:ext cx="102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BAE7B"/>
                </a:solidFill>
              </a:defRPr>
            </a:pPr>
            <a:r>
              <a:rPr sz="1500" b="1">
                <a:solidFill>
                  <a:srgbClr val="1BAE7B"/>
                </a:solidFill>
              </a:rPr>
              <a:t>H0287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FD6BEC-7384-43B8-9BCF-E7000EE8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0574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A7A7A"/>
                </a:solidFill>
              </a:defRPr>
            </a:pPr>
            <a:r>
              <a:rPr sz="1050" b="0">
                <a:solidFill>
                  <a:srgbClr val="7A7A7A"/>
                </a:solidFill>
              </a:rPr>
              <a:t>spam · shallow rescue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61C94C-0220-4392-A69B-82DD82B0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43175"/>
            <a:ext cx="28765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成人聊天诱导包含电话与 £1/min，浅层模型抓住线索，全文模型反而未过阈值。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6FC965-EE64-4471-9737-523F3FA3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00500"/>
            <a:ext cx="2876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solidFill>
              <a:srgbClr val="D5D5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D983F5-6D45-4319-8ECB-E38B2AB5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10050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AE7B"/>
                </a:solidFill>
              </a:defRPr>
            </a:pPr>
            <a:r>
              <a:rPr sz="1125" b="1">
                <a:solidFill>
                  <a:srgbClr val="1BAE7B"/>
                </a:solidFill>
              </a:rPr>
              <a:t>shallow  0.997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5098E7-E012-44D0-B8DF-E20DF0B0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21005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full text  0.305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91EFAC-4FC5-4D44-A52E-34709B6A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19750"/>
            <a:ext cx="906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02020"/>
                </a:solidFill>
              </a:defRPr>
            </a:pPr>
            <a:r>
              <a:rPr sz="1500" b="1">
                <a:solidFill>
                  <a:srgbClr val="202020"/>
                </a:solidFill>
              </a:rPr>
              <a:t>结论：表面线索高度有效，但它们不是语义理解，也不保证分布变化后的鲁棒性。</a:t>
            </a:r>
          </a:p>
        </p:txBody>
      </p:sp>
    </p:spTree>
    <p:extLst>
      <p:ext uri="{BB962C8B-B14F-4D97-AF65-F5344CB8AC3E}">
        <p14:creationId xmlns:p14="http://schemas.microsoft.com/office/powerpoint/2010/main" val="3041548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rame-5">
            <a:extLst xmlns:a="http://schemas.openxmlformats.org/drawingml/2006/main">
              <a:ext uri="{FF2B5EF4-FFF2-40B4-BE49-F238E27FC236}">
                <a16:creationId xmlns:a16="http://schemas.microsoft.com/office/drawing/2014/main" id="{4DE7CB95-74BA-49AA-B1EE-5B186D27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1163300" cy="617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2B2B"/>
            </a:solidFill>
            <a:prstDash val="solid"/>
          </a:ln>
        </p:spPr>
      </p:sp>
      <p:sp>
        <p:nvSpPr>
          <p:cNvPr id="2" name="section-5">
            <a:extLst xmlns:a="http://schemas.openxmlformats.org/drawingml/2006/main">
              <a:ext uri="{FF2B5EF4-FFF2-40B4-BE49-F238E27FC236}">
                <a16:creationId xmlns:a16="http://schemas.microsoft.com/office/drawing/2014/main" id="{8F545984-1F84-4BDE-87F4-DF844731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7A7A"/>
                </a:solidFill>
              </a:defRPr>
            </a:pPr>
            <a:r>
              <a:rPr sz="975" b="1">
                <a:solidFill>
                  <a:srgbClr val="7A7A7A"/>
                </a:solidFill>
              </a:rPr>
              <a:t>DATA INTERVENTIONS · OUTCOME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CAAEA46C-4474-4264-8CC8-92934088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3820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020"/>
                </a:solidFill>
              </a:defRPr>
            </a:pPr>
            <a:r>
              <a:rPr sz="2700" b="1">
                <a:solidFill>
                  <a:srgbClr val="202020"/>
                </a:solidFill>
              </a:rPr>
              <a:t>两种干预几乎不动准确率，却明显降低 spam 召回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C9EEAEE1-7963-42FD-AFE0-A6611D1C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096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A7A7A"/>
                </a:solidFill>
              </a:defRPr>
            </a:pPr>
            <a:r>
              <a:rPr sz="900" b="0">
                <a:solidFill>
                  <a:srgbClr val="7A7A7A"/>
                </a:solidFill>
              </a:rPr>
              <a:t>05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19e4791f594a76"/>
          <a:stretch xmlns:a="http://schemas.openxmlformats.org/drawingml/2006/main"/>
        </p:blipFill>
        <p:spPr>
          <a:xfrm xmlns:a="http://schemas.openxmlformats.org/drawingml/2006/main">
            <a:off x="2100887" y="1504950"/>
            <a:ext cx="8009275" cy="4552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AA1168-FA75-4409-A9E7-353AAD26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94360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020"/>
                </a:solidFill>
              </a:defRPr>
            </a:pPr>
            <a:r>
              <a:rPr sz="1350" b="1">
                <a:solidFill>
                  <a:srgbClr val="202020"/>
                </a:solidFill>
              </a:rPr>
              <a:t>准确率掩盖了数据问题；spam recall 才暴露真实影响。</a:t>
            </a:r>
          </a:p>
        </p:txBody>
      </p:sp>
    </p:spTree>
    <p:extLst>
      <p:ext uri="{BB962C8B-B14F-4D97-AF65-F5344CB8AC3E}">
        <p14:creationId xmlns:p14="http://schemas.microsoft.com/office/powerpoint/2010/main" val="13780742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79660A-EE84-464E-B32F-033A0394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1163300" cy="617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2B2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E2F7CA-854B-4CC1-9CB9-CD8F3B78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7A7A"/>
                </a:solidFill>
              </a:defRPr>
            </a:pPr>
            <a:r>
              <a:rPr sz="975" b="1">
                <a:solidFill>
                  <a:srgbClr val="7A7A7A"/>
                </a:solidFill>
              </a:rPr>
              <a:t>DATA INTERVENTIONS · IMPLICATION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3EC01A-7347-4CF2-A0CE-DB80D7D4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096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A7A7A"/>
                </a:solidFill>
              </a:defRPr>
            </a:pPr>
            <a:r>
              <a:rPr sz="900" b="0">
                <a:solidFill>
                  <a:srgbClr val="7A7A7A"/>
                </a:solidFill>
              </a:rPr>
              <a:t>06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8a6ba33a284a14"/>
          <a:stretch xmlns:a="http://schemas.openxmlformats.org/drawingml/2006/main"/>
        </p:blipFill>
        <p:spPr>
          <a:xfrm xmlns:a="http://schemas.openxmlformats.org/drawingml/2006/main">
            <a:off x="819150" y="1150125"/>
            <a:ext cx="10572750" cy="3852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DD3BF9-F42C-40BA-A385-99BF1D3A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43550"/>
            <a:ext cx="8953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A41453-9592-4C26-854F-C1729FC12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619750"/>
            <a:ext cx="849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02020"/>
                </a:solidFill>
              </a:defRPr>
            </a:pPr>
            <a:r>
              <a:rPr sz="1425" b="1">
                <a:solidFill>
                  <a:srgbClr val="202020"/>
                </a:solidFill>
              </a:rPr>
              <a:t>泄漏感知评估：移除 63 个全部预测正确的泄漏行后，spam recall 93.96% → 90.91%</a:t>
            </a:r>
          </a:p>
        </p:txBody>
      </p:sp>
    </p:spTree>
    <p:extLst>
      <p:ext uri="{BB962C8B-B14F-4D97-AF65-F5344CB8AC3E}">
        <p14:creationId xmlns:p14="http://schemas.microsoft.com/office/powerpoint/2010/main" val="17751104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2026-07-21T06:39:52.7530000Z</dcterms:created>
  <dcterms:modified xsi:type="dcterms:W3CDTF">2026-07-21T06:39:52.7530000Z</dcterms:modified>
</coreProperties>
</file>