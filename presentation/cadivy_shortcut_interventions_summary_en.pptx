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4803b2506e4743" /><Relationship Type="http://schemas.openxmlformats.org/officeDocument/2006/relationships/extended-properties" Target="/docProps/app.xml" Id="R83059acc810f4f2b" /><Relationship Type="http://schemas.openxmlformats.org/officeDocument/2006/relationships/officeDocument" Target="/ppt/presentation.xml" Id="R9e316c0a852f4b88" /></Relationships>
</file>

<file path=ppt/presentation.xml><?xml version="1.0" encoding="utf-8"?>
<p:presentation xmlns:p="http://schemas.openxmlformats.org/presentationml/2006/main">
  <p:sldMasterIdLst>
    <p:sldMasterId xmlns:r="http://schemas.openxmlformats.org/officeDocument/2006/relationships" id="2147483648" r:id="Ra64afeed25374c8e"/>
  </p:sldMasterIdLst>
  <p:notesMasterIdLst>
    <p:notesMasterId xmlns:r="http://schemas.openxmlformats.org/officeDocument/2006/relationships" r:id="Raa2056b6278a438f"/>
  </p:notesMasterIdLst>
  <p:sldIdLst>
    <p:sldId xmlns:r="http://schemas.openxmlformats.org/officeDocument/2006/relationships" id="256" r:id="Rdcc85578b3f249c1"/>
    <p:sldId xmlns:r="http://schemas.openxmlformats.org/officeDocument/2006/relationships" id="257" r:id="R697f5f41e26e4b15"/>
    <p:sldId xmlns:r="http://schemas.openxmlformats.org/officeDocument/2006/relationships" id="258" r:id="Rd8dd6ba63ddb4cb2"/>
    <p:sldId xmlns:r="http://schemas.openxmlformats.org/officeDocument/2006/relationships" id="259" r:id="R4653164f772346ac"/>
    <p:sldId xmlns:r="http://schemas.openxmlformats.org/officeDocument/2006/relationships" id="260" r:id="R9728b31e7a5a4347"/>
    <p:sldId xmlns:r="http://schemas.openxmlformats.org/officeDocument/2006/relationships" id="261" r:id="R17a9d2766aa94c79"/>
    <p:sldId xmlns:r="http://schemas.openxmlformats.org/officeDocument/2006/relationships" id="262" r:id="R9e07dee48aa0468b"/>
    <p:sldId xmlns:r="http://schemas.openxmlformats.org/officeDocument/2006/relationships" id="263" r:id="Rf12f0f26c26a49b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c43ec22af4497e" /><Relationship Type="http://schemas.openxmlformats.org/officeDocument/2006/relationships/slideMaster" Target="/ppt/slideMasters/slideMaster1.xml" Id="Ra64afeed25374c8e" /><Relationship Type="http://schemas.openxmlformats.org/officeDocument/2006/relationships/notesMaster" Target="/ppt/notesMasters/notesMaster1.xml" Id="Raa2056b6278a438f" /><Relationship Type="http://schemas.openxmlformats.org/officeDocument/2006/relationships/presProps" Target="/ppt/presProps.xml" Id="R0fb7eead5fe644d1" /><Relationship Type="http://schemas.openxmlformats.org/officeDocument/2006/relationships/tableStyles" Target="/ppt/tableStyles.xml" Id="Ra128ad7106ef430e" /><Relationship Type="http://schemas.openxmlformats.org/officeDocument/2006/relationships/slide" Target="/ppt/slides/slide1.xml" Id="Rdcc85578b3f249c1" /><Relationship Type="http://schemas.openxmlformats.org/officeDocument/2006/relationships/slide" Target="/ppt/slides/slide2.xml" Id="R697f5f41e26e4b15" /><Relationship Type="http://schemas.openxmlformats.org/officeDocument/2006/relationships/slide" Target="/ppt/slides/slide3.xml" Id="Rd8dd6ba63ddb4cb2" /><Relationship Type="http://schemas.openxmlformats.org/officeDocument/2006/relationships/slide" Target="/ppt/slides/slide4.xml" Id="R4653164f772346ac" /><Relationship Type="http://schemas.openxmlformats.org/officeDocument/2006/relationships/slide" Target="/ppt/slides/slide5.xml" Id="R9728b31e7a5a4347" /><Relationship Type="http://schemas.openxmlformats.org/officeDocument/2006/relationships/slide" Target="/ppt/slides/slide6.xml" Id="R17a9d2766aa94c79" /><Relationship Type="http://schemas.openxmlformats.org/officeDocument/2006/relationships/slide" Target="/ppt/slides/slide7.xml" Id="R9e07dee48aa0468b" /><Relationship Type="http://schemas.openxmlformats.org/officeDocument/2006/relationships/slide" Target="/ppt/slides/slide8.xml" Id="Rf12f0f26c26a49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14e47a7d7e46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66f547d2a24028" /><Relationship Type="http://schemas.openxmlformats.org/officeDocument/2006/relationships/notesMaster" Target="/ppt/notesMasters/notesMaster1.xml" Id="R41415e81e3d14e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b9373124ee474f" /><Relationship Type="http://schemas.openxmlformats.org/officeDocument/2006/relationships/notesMaster" Target="/ppt/notesMasters/notesMaster1.xml" Id="R28973027bc8545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9be63f75934e0b" /><Relationship Type="http://schemas.openxmlformats.org/officeDocument/2006/relationships/notesMaster" Target="/ppt/notesMasters/notesMaster1.xml" Id="Re31ed1e390ea4b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32fb493b3345cd" /><Relationship Type="http://schemas.openxmlformats.org/officeDocument/2006/relationships/notesMaster" Target="/ppt/notesMasters/notesMaster1.xml" Id="R968aa89aa32b43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7326cb873e4b94" /><Relationship Type="http://schemas.openxmlformats.org/officeDocument/2006/relationships/notesMaster" Target="/ppt/notesMasters/notesMaster1.xml" Id="R3807402b29c34c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fbc2e00b234aba" /><Relationship Type="http://schemas.openxmlformats.org/officeDocument/2006/relationships/notesMaster" Target="/ppt/notesMasters/notesMaster1.xml" Id="Rc7ff0111d75543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e61595f79a497d" /><Relationship Type="http://schemas.openxmlformats.org/officeDocument/2006/relationships/notesMaster" Target="/ppt/notesMasters/notesMaster1.xml" Id="R41a2a0773cff47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6077b5e69534593" /><Relationship Type="http://schemas.openxmlformats.org/officeDocument/2006/relationships/notesMaster" Target="/ppt/notesMasters/notesMaster1.xml" Id="R048665727e5a40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summarize the full audit, the 99.10% baseline remains strong on this fixed split, but three findings qualify what that score means. First, 63 held-out messages can be recovered from training. Second, contact and promotion cues alone reach 98.11% accuracy without word order. Third, three of the ten baseline errors are tied to suspected label errors or policy ambiguity rather than ordinary model failure. The result is not that the model has no ability. It is that the headline score combines genuine predictive performance with an easier and less independent benchmark than the number suggests.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recommendations follow directly from the evidence. Split exact and accepted near-duplicate variants by cluster so a message template cannot appear on both sides. Clarify recurring policy boundaries, especially subscriptions, charity, 070 numbers, and messages that quote or discuss spam. Report spam recall and spam F1 together with accuracy, including leakage-aware sensitivity. Finally, preserve the audit trail through overlays and review ledgers instead of overwriting canonical data or held-out labels. The goal is not simply a higher score; it is an evaluation claim that another reviewer can reproduce and defend.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fbf6ea5f6347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259bf380df4dc5" /><Relationship Type="http://schemas.openxmlformats.org/officeDocument/2006/relationships/slideLayout" Target="/ppt/slideLayouts/slideLayout1.xml" Id="Rfc8cb7a73a4340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8cb7a73a4340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2a589c96894a2c" /><Relationship Type="http://schemas.openxmlformats.org/officeDocument/2006/relationships/notesSlide" Target="/ppt/notesSlides/notesSlide1.xml" Id="R0b6d15ea86ab46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dde1a082e54fa0" /><Relationship Type="http://schemas.openxmlformats.org/officeDocument/2006/relationships/notesSlide" Target="/ppt/notesSlides/notesSlide2.xml" Id="Rb7090527c36e4f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dd1f5641ca4a57" /><Relationship Type="http://schemas.openxmlformats.org/officeDocument/2006/relationships/chart" Target="/ppt/slides/charts/chart1.xml" Id="Ra0c4c2dd05d94485" /><Relationship Type="http://schemas.openxmlformats.org/officeDocument/2006/relationships/notesSlide" Target="/ppt/notesSlides/notesSlide3.xml" Id="R580a530525774d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5384050c8448d9" /><Relationship Type="http://schemas.openxmlformats.org/officeDocument/2006/relationships/notesSlide" Target="/ppt/notesSlides/notesSlide4.xml" Id="R5655d1e68efc49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4ad4897327454b" /><Relationship Type="http://schemas.openxmlformats.org/officeDocument/2006/relationships/chart" Target="/ppt/slides/charts/chart2.xml" Id="R659c4f32839a408f" /><Relationship Type="http://schemas.openxmlformats.org/officeDocument/2006/relationships/notesSlide" Target="/ppt/notesSlides/notesSlide5.xml" Id="R1169e30ab1574a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a4a85f1dfa4851" /><Relationship Type="http://schemas.openxmlformats.org/officeDocument/2006/relationships/notesSlide" Target="/ppt/notesSlides/notesSlide6.xml" Id="Rc9b0245b9e0c46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a9cb3132844daa" /><Relationship Type="http://schemas.openxmlformats.org/officeDocument/2006/relationships/notesSlide" Target="/ppt/notesSlides/notesSlide7.xml" Id="Rc6e49bd3f62147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686b5cc6dd4dd3" /><Relationship Type="http://schemas.openxmlformats.org/officeDocument/2006/relationships/notesSlide" Target="/ppt/notesSlides/notesSlide8.xml" Id="Rc02f29158e8f4333" /></Relationships>
</file>

<file path=ppt/slides/charts/chart1.xml><?xml version="1.0" encoding="utf-8"?>
<c:chartSpace xmlns:c="http://schemas.openxmlformats.org/drawingml/2006/chart">
  <c:lang val="en-US"/>
  <c:chart>
    <c:plotArea>
      <c:barChart>
        <c:barDir val="col"/>
        <c:varyColors val="0"/>
        <c:ser>
          <c:idx val="0"/>
          <c:order val="0"/>
          <c:tx>
            <c:v>Accuracy</c:v>
          </c:tx>
          <c:spPr>
            <a:solidFill xmlns:a="http://schemas.openxmlformats.org/drawingml/2006/main">
              <a:srgbClr val="004B50"/>
            </a:solidFill>
          </c:spPr>
          <c:cat>
            <c:strLit>
              <c:ptCount val="6"/>
              <c:pt idx="0">
                <c:v>Majority ham</c:v>
              </c:pt>
              <c:pt idx="1">
                <c:v>Shape only</c:v>
              </c:pt>
              <c:pt idx="2">
                <c:v>Contact + promo</c:v>
              </c:pt>
              <c:pt idx="3">
                <c:v>All shallow</c:v>
              </c:pt>
              <c:pt idx="4">
                <c:v>Masked text</c:v>
              </c:pt>
              <c:pt idx="5">
                <c:v>Full text</c:v>
              </c:pt>
            </c:strLit>
          </c:cat>
          <c:val>
            <c:numLit>
              <c:formatCode>General</c:formatCode>
              <c:ptCount val="6"/>
              <c:pt idx="0">
                <c:v>86.62</c:v>
              </c:pt>
              <c:pt idx="1">
                <c:v>89.5</c:v>
              </c:pt>
              <c:pt idx="2">
                <c:v>98.11</c:v>
              </c:pt>
              <c:pt idx="3">
                <c:v>98.2</c:v>
              </c:pt>
              <c:pt idx="4">
                <c:v>98.92</c:v>
              </c:pt>
              <c:pt idx="5">
                <c:v>99.1</c:v>
              </c:pt>
            </c:numLit>
          </c:val>
        </c:ser>
        <c:ser>
          <c:idx val="1"/>
          <c:order val="1"/>
          <c:tx>
            <c:v>Spam F1</c:v>
          </c:tx>
          <c:spPr>
            <a:solidFill xmlns:a="http://schemas.openxmlformats.org/drawingml/2006/main">
              <a:srgbClr val="00A17B"/>
            </a:solidFill>
          </c:spPr>
          <c:cat>
            <c:strLit>
              <c:ptCount val="6"/>
              <c:pt idx="0">
                <c:v>Majority ham</c:v>
              </c:pt>
              <c:pt idx="1">
                <c:v>Shape only</c:v>
              </c:pt>
              <c:pt idx="2">
                <c:v>Contact + promo</c:v>
              </c:pt>
              <c:pt idx="3">
                <c:v>All shallow</c:v>
              </c:pt>
              <c:pt idx="4">
                <c:v>Masked text</c:v>
              </c:pt>
              <c:pt idx="5">
                <c:v>Full text</c:v>
              </c:pt>
            </c:strLit>
          </c:cat>
          <c:val>
            <c:numLit>
              <c:formatCode>General</c:formatCode>
              <c:ptCount val="6"/>
              <c:pt idx="0">
                <c:v>0</c:v>
              </c:pt>
              <c:pt idx="1">
                <c:v>48.91</c:v>
              </c:pt>
              <c:pt idx="2">
                <c:v>92.78</c:v>
              </c:pt>
              <c:pt idx="3">
                <c:v>93.15</c:v>
              </c:pt>
              <c:pt idx="4">
                <c:v>95.14</c:v>
              </c:pt>
              <c:pt idx="5">
                <c:v>96.55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majorGridlines>
          <c:spPr>
            <a:ln xmlns:a="http://schemas.openxmlformats.org/drawingml/2006/main" w="9525">
              <a:solidFill>
                <a:srgbClr val="DDE8E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legend>
      <c:legendPos val="b"/>
      <c:overlay val="0"/>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Spam F1 (%)</c:v>
          </c:tx>
          <c:spPr>
            <a:solidFill xmlns:a="http://schemas.openxmlformats.org/drawingml/2006/main">
              <a:srgbClr val="00A17B"/>
            </a:solidFill>
          </c:spPr>
          <c:cat>
            <c:strLit>
              <c:ptCount val="9"/>
              <c:pt idx="0">
                <c:v>Baseline</c:v>
              </c:pt>
              <c:pt idx="1">
                <c:v>Leak-aware</c:v>
              </c:pt>
              <c:pt idx="2">
                <c:v>Adjudication</c:v>
              </c:pt>
              <c:pt idx="3">
                <c:v>Leak partners</c:v>
              </c:pt>
              <c:pt idx="4">
                <c:v>Label overlay</c:v>
              </c:pt>
              <c:pt idx="5">
                <c:v>Ambiguous rows</c:v>
              </c:pt>
              <c:pt idx="6">
                <c:v>Shortcuts</c:v>
              </c:pt>
              <c:pt idx="7">
                <c:v>De-duplicate</c:v>
              </c:pt>
              <c:pt idx="8">
                <c:v>Combined</c:v>
              </c:pt>
            </c:strLit>
          </c:cat>
          <c:val>
            <c:numLit>
              <c:formatCode>General</c:formatCode>
              <c:ptCount val="9"/>
              <c:pt idx="0">
                <c:v>96.55</c:v>
              </c:pt>
              <c:pt idx="1">
                <c:v>94.74</c:v>
              </c:pt>
              <c:pt idx="2">
                <c:v>97.54</c:v>
              </c:pt>
              <c:pt idx="3">
                <c:v>96.89</c:v>
              </c:pt>
              <c:pt idx="4">
                <c:v>95.83</c:v>
              </c:pt>
              <c:pt idx="5">
                <c:v>96.17</c:v>
              </c:pt>
              <c:pt idx="6">
                <c:v>93.99</c:v>
              </c:pt>
              <c:pt idx="7">
                <c:v>95.89</c:v>
              </c:pt>
              <c:pt idx="8">
                <c:v>93.99</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l"/>
        <c:majorGridlines>
          <c:spPr>
            <a:ln xmlns:a="http://schemas.openxmlformats.org/drawingml/2006/main" w="9525">
              <a:solidFill>
                <a:srgbClr val="DDE8E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C17F07-B9C7-4E25-9C3D-F03CC3C3CBA6}"/>
              </a:ext>
            </a:extLst>
          </p:cNvPr>
          <p:cNvSpPr>
            <a:spLocks xmlns:a="http://schemas.openxmlformats.org/drawingml/2006/main" noGrp="1"/>
          </p:cNvSpPr>
          <p:nvPr/>
        </p:nvSpPr>
        <p:spPr>
          <a:xfrm xmlns:a="http://schemas.openxmlformats.org/drawingml/2006/main">
            <a:off x="628650" y="5334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DATASET FORENSICS / TARGET 5</a:t>
            </a:r>
          </a:p>
        </p:txBody>
      </p:sp>
      <p:sp>
        <p:nvSpPr>
          <p:cNvPr id="2" name="">
            <a:extLst xmlns:a="http://schemas.openxmlformats.org/drawingml/2006/main">
              <a:ext uri="{FF2B5EF4-FFF2-40B4-BE49-F238E27FC236}">
                <a16:creationId xmlns:a16="http://schemas.microsoft.com/office/drawing/2014/main" id="{9F78A037-B0ED-4DE7-8E25-A2F68112CBA8}"/>
              </a:ext>
            </a:extLst>
          </p:cNvPr>
          <p:cNvSpPr>
            <a:spLocks xmlns:a="http://schemas.openxmlformats.org/drawingml/2006/main" noGrp="1"/>
          </p:cNvSpPr>
          <p:nvPr/>
        </p:nvSpPr>
        <p:spPr>
          <a:xfrm xmlns:a="http://schemas.openxmlformats.org/drawingml/2006/main">
            <a:off x="628650" y="1381125"/>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975" b="1">
                <a:solidFill>
                  <a:srgbClr val="101010"/>
                </a:solidFill>
              </a:defRPr>
            </a:pPr>
            <a:r>
              <a:rPr sz="3975" b="1">
                <a:solidFill>
                  <a:srgbClr val="101010"/>
                </a:solidFill>
              </a:rPr>
              <a:t>Did the model learn</a:t>
            </a:r>
          </a:p>
          <a:p xmlns:a="http://schemas.openxmlformats.org/drawingml/2006/main">
            <a:pPr algn="l">
              <a:buNone/>
              <a:defRPr sz="3975" b="1">
                <a:solidFill>
                  <a:srgbClr val="101010"/>
                </a:solidFill>
              </a:defRPr>
            </a:pPr>
            <a:r>
              <a:rPr sz="3975" b="1">
                <a:solidFill>
                  <a:srgbClr val="101010"/>
                </a:solidFill>
              </a:rPr>
              <a:t>meaning - or shortcuts?</a:t>
            </a:r>
          </a:p>
        </p:txBody>
      </p:sp>
      <p:sp>
        <p:nvSpPr>
          <p:cNvPr id="3" name="">
            <a:extLst xmlns:a="http://schemas.openxmlformats.org/drawingml/2006/main">
              <a:ext uri="{FF2B5EF4-FFF2-40B4-BE49-F238E27FC236}">
                <a16:creationId xmlns:a16="http://schemas.microsoft.com/office/drawing/2014/main" id="{CDE29B28-E0C4-4660-B93B-CC7367C6F1D3}"/>
              </a:ext>
            </a:extLst>
          </p:cNvPr>
          <p:cNvSpPr>
            <a:spLocks xmlns:a="http://schemas.openxmlformats.org/drawingml/2006/main" noGrp="1"/>
          </p:cNvSpPr>
          <p:nvPr/>
        </p:nvSpPr>
        <p:spPr>
          <a:xfrm xmlns:a="http://schemas.openxmlformats.org/drawingml/2006/main">
            <a:off x="666750" y="3095625"/>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E6768"/>
                </a:solidFill>
              </a:defRPr>
            </a:pPr>
            <a:r>
              <a:rPr sz="1650" b="0">
                <a:solidFill>
                  <a:srgbClr val="5E6768"/>
                </a:solidFill>
              </a:rPr>
              <a:t>We isolate message shape, contact details, promotional cues and row position to measure how much of the held-out score can be reproduced without the original word sequence.</a:t>
            </a:r>
          </a:p>
        </p:txBody>
      </p:sp>
      <p:sp>
        <p:nvSpPr>
          <p:cNvPr id="4" name="">
            <a:extLst xmlns:a="http://schemas.openxmlformats.org/drawingml/2006/main">
              <a:ext uri="{FF2B5EF4-FFF2-40B4-BE49-F238E27FC236}">
                <a16:creationId xmlns:a16="http://schemas.microsoft.com/office/drawing/2014/main" id="{6147B466-922E-4D44-B77C-F3578CACC5BB}"/>
              </a:ext>
            </a:extLst>
          </p:cNvPr>
          <p:cNvSpPr>
            <a:spLocks xmlns:a="http://schemas.openxmlformats.org/drawingml/2006/main" noGrp="1"/>
          </p:cNvSpPr>
          <p:nvPr/>
        </p:nvSpPr>
        <p:spPr>
          <a:xfrm xmlns:a="http://schemas.openxmlformats.org/drawingml/2006/main">
            <a:off x="685800" y="4619625"/>
            <a:ext cx="2238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300" b="1">
                <a:solidFill>
                  <a:srgbClr val="004B50"/>
                </a:solidFill>
              </a:defRPr>
            </a:pPr>
            <a:r>
              <a:rPr sz="3300" b="1">
                <a:solidFill>
                  <a:srgbClr val="004B50"/>
                </a:solidFill>
              </a:rPr>
              <a:t>11</a:t>
            </a:r>
          </a:p>
        </p:txBody>
      </p:sp>
      <p:sp>
        <p:nvSpPr>
          <p:cNvPr id="5" name="">
            <a:extLst xmlns:a="http://schemas.openxmlformats.org/drawingml/2006/main">
              <a:ext uri="{FF2B5EF4-FFF2-40B4-BE49-F238E27FC236}">
                <a16:creationId xmlns:a16="http://schemas.microsoft.com/office/drawing/2014/main" id="{980B873F-BFF8-4B0A-A3FD-1F141124CFDD}"/>
              </a:ext>
            </a:extLst>
          </p:cNvPr>
          <p:cNvSpPr>
            <a:spLocks xmlns:a="http://schemas.openxmlformats.org/drawingml/2006/main" noGrp="1"/>
          </p:cNvSpPr>
          <p:nvPr/>
        </p:nvSpPr>
        <p:spPr>
          <a:xfrm xmlns:a="http://schemas.openxmlformats.org/drawingml/2006/main">
            <a:off x="685800" y="5248275"/>
            <a:ext cx="2238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768"/>
                </a:solidFill>
              </a:defRPr>
            </a:pPr>
            <a:r>
              <a:rPr sz="1275" b="0">
                <a:solidFill>
                  <a:srgbClr val="5E6768"/>
                </a:solidFill>
              </a:rPr>
              <a:t>hand-crafted shallow features</a:t>
            </a:r>
          </a:p>
        </p:txBody>
      </p:sp>
      <p:sp>
        <p:nvSpPr>
          <p:cNvPr id="6" name="">
            <a:extLst xmlns:a="http://schemas.openxmlformats.org/drawingml/2006/main">
              <a:ext uri="{FF2B5EF4-FFF2-40B4-BE49-F238E27FC236}">
                <a16:creationId xmlns:a16="http://schemas.microsoft.com/office/drawing/2014/main" id="{E803F7DD-27BF-4BFB-8AA4-D6E623C3A31D}"/>
              </a:ext>
            </a:extLst>
          </p:cNvPr>
          <p:cNvSpPr>
            <a:spLocks xmlns:a="http://schemas.openxmlformats.org/drawingml/2006/main" noGrp="1"/>
          </p:cNvSpPr>
          <p:nvPr/>
        </p:nvSpPr>
        <p:spPr>
          <a:xfrm xmlns:a="http://schemas.openxmlformats.org/drawingml/2006/main">
            <a:off x="3333750" y="4619625"/>
            <a:ext cx="2238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300" b="1">
                <a:solidFill>
                  <a:srgbClr val="00A17B"/>
                </a:solidFill>
              </a:defRPr>
            </a:pPr>
            <a:r>
              <a:rPr sz="3300" b="1">
                <a:solidFill>
                  <a:srgbClr val="00A17B"/>
                </a:solidFill>
              </a:rPr>
              <a:t>98.20%</a:t>
            </a:r>
          </a:p>
        </p:txBody>
      </p:sp>
      <p:sp>
        <p:nvSpPr>
          <p:cNvPr id="7" name="">
            <a:extLst xmlns:a="http://schemas.openxmlformats.org/drawingml/2006/main">
              <a:ext uri="{FF2B5EF4-FFF2-40B4-BE49-F238E27FC236}">
                <a16:creationId xmlns:a16="http://schemas.microsoft.com/office/drawing/2014/main" id="{ADAEBA66-10E3-424C-8385-1A62FAF2A9D1}"/>
              </a:ext>
            </a:extLst>
          </p:cNvPr>
          <p:cNvSpPr>
            <a:spLocks xmlns:a="http://schemas.openxmlformats.org/drawingml/2006/main" noGrp="1"/>
          </p:cNvSpPr>
          <p:nvPr/>
        </p:nvSpPr>
        <p:spPr>
          <a:xfrm xmlns:a="http://schemas.openxmlformats.org/drawingml/2006/main">
            <a:off x="3333750" y="5248275"/>
            <a:ext cx="2238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768"/>
                </a:solidFill>
              </a:defRPr>
            </a:pPr>
            <a:r>
              <a:rPr sz="1275" b="0">
                <a:solidFill>
                  <a:srgbClr val="5E6768"/>
                </a:solidFill>
              </a:rPr>
              <a:t>all-shallow accuracy</a:t>
            </a:r>
          </a:p>
        </p:txBody>
      </p:sp>
      <p:sp>
        <p:nvSpPr>
          <p:cNvPr id="8" name="">
            <a:extLst xmlns:a="http://schemas.openxmlformats.org/drawingml/2006/main">
              <a:ext uri="{FF2B5EF4-FFF2-40B4-BE49-F238E27FC236}">
                <a16:creationId xmlns:a16="http://schemas.microsoft.com/office/drawing/2014/main" id="{1D640B99-3299-4E91-B9FD-43B9797052A8}"/>
              </a:ext>
            </a:extLst>
          </p:cNvPr>
          <p:cNvSpPr>
            <a:spLocks xmlns:a="http://schemas.openxmlformats.org/drawingml/2006/main" noGrp="1"/>
          </p:cNvSpPr>
          <p:nvPr/>
        </p:nvSpPr>
        <p:spPr>
          <a:xfrm xmlns:a="http://schemas.openxmlformats.org/drawingml/2006/main">
            <a:off x="6191250" y="4619625"/>
            <a:ext cx="2238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300" b="1">
                <a:solidFill>
                  <a:srgbClr val="E87843"/>
                </a:solidFill>
              </a:defRPr>
            </a:pPr>
            <a:r>
              <a:rPr sz="3300" b="1">
                <a:solidFill>
                  <a:srgbClr val="E87843"/>
                </a:solidFill>
              </a:rPr>
              <a:t>0.90 pt</a:t>
            </a:r>
          </a:p>
        </p:txBody>
      </p:sp>
      <p:sp>
        <p:nvSpPr>
          <p:cNvPr id="9" name="">
            <a:extLst xmlns:a="http://schemas.openxmlformats.org/drawingml/2006/main">
              <a:ext uri="{FF2B5EF4-FFF2-40B4-BE49-F238E27FC236}">
                <a16:creationId xmlns:a16="http://schemas.microsoft.com/office/drawing/2014/main" id="{7C216990-E119-44C4-ACB2-253131E3C2EC}"/>
              </a:ext>
            </a:extLst>
          </p:cNvPr>
          <p:cNvSpPr>
            <a:spLocks xmlns:a="http://schemas.openxmlformats.org/drawingml/2006/main" noGrp="1"/>
          </p:cNvSpPr>
          <p:nvPr/>
        </p:nvSpPr>
        <p:spPr>
          <a:xfrm xmlns:a="http://schemas.openxmlformats.org/drawingml/2006/main">
            <a:off x="6191250" y="5248275"/>
            <a:ext cx="2238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a:solidFill>
                  <a:srgbClr val="5E6768"/>
                </a:solidFill>
              </a:defRPr>
            </a:pPr>
            <a:r>
              <a:rPr sz="1275" b="0">
                <a:solidFill>
                  <a:srgbClr val="5E6768"/>
                </a:solidFill>
              </a:rPr>
              <a:t>gap to the full-text model</a:t>
            </a:r>
          </a:p>
        </p:txBody>
      </p:sp>
      <p:sp>
        <p:nvSpPr>
          <p:cNvPr id="10" name="">
            <a:extLst xmlns:a="http://schemas.openxmlformats.org/drawingml/2006/main">
              <a:ext uri="{FF2B5EF4-FFF2-40B4-BE49-F238E27FC236}">
                <a16:creationId xmlns:a16="http://schemas.microsoft.com/office/drawing/2014/main" id="{9E7F780D-A5BC-428B-8A7B-471F8B542CA0}"/>
              </a:ext>
            </a:extLst>
          </p:cNvPr>
          <p:cNvSpPr>
            <a:spLocks xmlns:a="http://schemas.openxmlformats.org/drawingml/2006/main" noGrp="1"/>
          </p:cNvSpPr>
          <p:nvPr/>
        </p:nvSpPr>
        <p:spPr>
          <a:xfrm xmlns:a="http://schemas.openxmlformats.org/drawingml/2006/main">
            <a:off x="9620250" y="60960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b="1">
                <a:solidFill>
                  <a:srgbClr val="5E6768"/>
                </a:solidFill>
              </a:defRPr>
            </a:pPr>
            <a:r>
              <a:rPr sz="1050" b="1">
                <a:solidFill>
                  <a:srgbClr val="5E6768"/>
                </a:solidFill>
              </a:rPr>
              <a:t>CADIVY</a:t>
            </a:r>
          </a:p>
        </p:txBody>
      </p:sp>
      <p:sp>
        <p:nvSpPr>
          <p:cNvPr id="11" name="">
            <a:extLst xmlns:a="http://schemas.openxmlformats.org/drawingml/2006/main">
              <a:ext uri="{FF2B5EF4-FFF2-40B4-BE49-F238E27FC236}">
                <a16:creationId xmlns:a16="http://schemas.microsoft.com/office/drawing/2014/main" id="{E8AC327B-6BF0-4224-9A21-7BC8D8AE977F}"/>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4C4852C-16D2-465D-BD79-E83E2429D89E}"/>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415E0E-AE0A-4501-82A8-344D5D51C005}"/>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spTree>
    <p:extLst>
      <p:ext uri="{BB962C8B-B14F-4D97-AF65-F5344CB8AC3E}">
        <p14:creationId xmlns:p14="http://schemas.microsoft.com/office/powerpoint/2010/main" val="18334454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2">
            <a:extLst xmlns:a="http://schemas.openxmlformats.org/drawingml/2006/main">
              <a:ext uri="{FF2B5EF4-FFF2-40B4-BE49-F238E27FC236}">
                <a16:creationId xmlns:a16="http://schemas.microsoft.com/office/drawing/2014/main" id="{EC65BD0B-CDC6-4AFE-A59C-C6536C1DF52A}"/>
              </a:ext>
            </a:extLst>
          </p:cNvPr>
          <p:cNvSpPr>
            <a:spLocks xmlns:a="http://schemas.openxmlformats.org/drawingml/2006/main" noGrp="1"/>
          </p:cNvSpPr>
          <p:nvPr/>
        </p:nvSpPr>
        <p:spPr>
          <a:xfrm xmlns:a="http://schemas.openxmlformats.org/drawingml/2006/main">
            <a:off x="5334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TARGET 5 / METHODOLOGY</a:t>
            </a:r>
          </a:p>
        </p:txBody>
      </p:sp>
      <p:sp>
        <p:nvSpPr>
          <p:cNvPr id="2" name="title-2">
            <a:extLst xmlns:a="http://schemas.openxmlformats.org/drawingml/2006/main">
              <a:ext uri="{FF2B5EF4-FFF2-40B4-BE49-F238E27FC236}">
                <a16:creationId xmlns:a16="http://schemas.microsoft.com/office/drawing/2014/main" id="{4465BF7B-4CC1-4A33-AA2D-5C7C29B00A7A}"/>
              </a:ext>
            </a:extLst>
          </p:cNvPr>
          <p:cNvSpPr>
            <a:spLocks xmlns:a="http://schemas.openxmlformats.org/drawingml/2006/main" noGrp="1"/>
          </p:cNvSpPr>
          <p:nvPr/>
        </p:nvSpPr>
        <p:spPr>
          <a:xfrm xmlns:a="http://schemas.openxmlformats.org/drawingml/2006/main">
            <a:off x="533400" y="70485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101010"/>
                </a:solidFill>
              </a:defRPr>
            </a:pPr>
            <a:r>
              <a:rPr sz="2850" b="1">
                <a:solidFill>
                  <a:srgbClr val="101010"/>
                </a:solidFill>
              </a:rPr>
              <a:t>A fair probe changes features, not the classifier</a:t>
            </a:r>
          </a:p>
        </p:txBody>
      </p:sp>
      <p:sp>
        <p:nvSpPr>
          <p:cNvPr id="3" name="">
            <a:extLst xmlns:a="http://schemas.openxmlformats.org/drawingml/2006/main">
              <a:ext uri="{FF2B5EF4-FFF2-40B4-BE49-F238E27FC236}">
                <a16:creationId xmlns:a16="http://schemas.microsoft.com/office/drawing/2014/main" id="{0DB6A8C8-6A9F-4F01-B59D-8B3620282946}"/>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5E6768"/>
                </a:solidFill>
              </a:defRPr>
            </a:pPr>
            <a:r>
              <a:rPr sz="900" b="0">
                <a:solidFill>
                  <a:srgbClr val="5E6768"/>
                </a:solidFill>
              </a:rPr>
              <a:t>02</a:t>
            </a:r>
          </a:p>
        </p:txBody>
      </p:sp>
      <p:sp>
        <p:nvSpPr>
          <p:cNvPr id="4" name="">
            <a:extLst xmlns:a="http://schemas.openxmlformats.org/drawingml/2006/main">
              <a:ext uri="{FF2B5EF4-FFF2-40B4-BE49-F238E27FC236}">
                <a16:creationId xmlns:a16="http://schemas.microsoft.com/office/drawing/2014/main" id="{50D8B611-0914-47A6-A586-066FA9910B31}"/>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F151E2-02A6-43AC-A63D-53007D4E9A99}"/>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2A9A66-FEA7-41E6-97A3-0458F1101A74}"/>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056E6A-90DD-40D3-BBF5-C2A60B10DC21}"/>
              </a:ext>
            </a:extLst>
          </p:cNvPr>
          <p:cNvSpPr>
            <a:spLocks xmlns:a="http://schemas.openxmlformats.org/drawingml/2006/main" noGrp="1"/>
          </p:cNvSpPr>
          <p:nvPr/>
        </p:nvSpPr>
        <p:spPr>
          <a:xfrm xmlns:a="http://schemas.openxmlformats.org/drawingml/2006/main">
            <a:off x="704850" y="17145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A17B"/>
                </a:solidFill>
              </a:defRPr>
            </a:pPr>
            <a:r>
              <a:rPr sz="1950" b="1">
                <a:solidFill>
                  <a:srgbClr val="00A17B"/>
                </a:solidFill>
              </a:rPr>
              <a:t>01</a:t>
            </a:r>
          </a:p>
        </p:txBody>
      </p:sp>
      <p:sp>
        <p:nvSpPr>
          <p:cNvPr id="8" name="">
            <a:extLst xmlns:a="http://schemas.openxmlformats.org/drawingml/2006/main">
              <a:ext uri="{FF2B5EF4-FFF2-40B4-BE49-F238E27FC236}">
                <a16:creationId xmlns:a16="http://schemas.microsoft.com/office/drawing/2014/main" id="{CF569A7B-763F-4E86-98D0-ABEF6A1A640C}"/>
              </a:ext>
            </a:extLst>
          </p:cNvPr>
          <p:cNvSpPr>
            <a:spLocks xmlns:a="http://schemas.openxmlformats.org/drawingml/2006/main" noGrp="1"/>
          </p:cNvSpPr>
          <p:nvPr/>
        </p:nvSpPr>
        <p:spPr>
          <a:xfrm xmlns:a="http://schemas.openxmlformats.org/drawingml/2006/main">
            <a:off x="1476375" y="17145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Fixed evidence</a:t>
            </a:r>
          </a:p>
        </p:txBody>
      </p:sp>
      <p:sp>
        <p:nvSpPr>
          <p:cNvPr id="9" name="">
            <a:extLst xmlns:a="http://schemas.openxmlformats.org/drawingml/2006/main">
              <a:ext uri="{FF2B5EF4-FFF2-40B4-BE49-F238E27FC236}">
                <a16:creationId xmlns:a16="http://schemas.microsoft.com/office/drawing/2014/main" id="{FFA68AA4-EF91-4A45-AC26-E1FFFC16609C}"/>
              </a:ext>
            </a:extLst>
          </p:cNvPr>
          <p:cNvSpPr>
            <a:spLocks xmlns:a="http://schemas.openxmlformats.org/drawingml/2006/main" noGrp="1"/>
          </p:cNvSpPr>
          <p:nvPr/>
        </p:nvSpPr>
        <p:spPr>
          <a:xfrm xmlns:a="http://schemas.openxmlformats.org/drawingml/2006/main">
            <a:off x="4191000" y="17145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4,460 train / 1,114 held-out; seed 42; held-out labels never edited.</a:t>
            </a:r>
          </a:p>
        </p:txBody>
      </p:sp>
      <p:sp>
        <p:nvSpPr>
          <p:cNvPr id="10" name="">
            <a:extLst xmlns:a="http://schemas.openxmlformats.org/drawingml/2006/main">
              <a:ext uri="{FF2B5EF4-FFF2-40B4-BE49-F238E27FC236}">
                <a16:creationId xmlns:a16="http://schemas.microsoft.com/office/drawing/2014/main" id="{727E0EDD-FF02-4D0E-8054-69C3DAC0A144}"/>
              </a:ext>
            </a:extLst>
          </p:cNvPr>
          <p:cNvSpPr>
            <a:spLocks xmlns:a="http://schemas.openxmlformats.org/drawingml/2006/main" noGrp="1"/>
          </p:cNvSpPr>
          <p:nvPr/>
        </p:nvSpPr>
        <p:spPr>
          <a:xfrm xmlns:a="http://schemas.openxmlformats.org/drawingml/2006/main">
            <a:off x="723900" y="23622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0F0BE0-2A31-4F6D-BD7D-0E0C58B2C1E3}"/>
              </a:ext>
            </a:extLst>
          </p:cNvPr>
          <p:cNvSpPr>
            <a:spLocks xmlns:a="http://schemas.openxmlformats.org/drawingml/2006/main" noGrp="1"/>
          </p:cNvSpPr>
          <p:nvPr/>
        </p:nvSpPr>
        <p:spPr>
          <a:xfrm xmlns:a="http://schemas.openxmlformats.org/drawingml/2006/main">
            <a:off x="704850"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4B50"/>
                </a:solidFill>
              </a:defRPr>
            </a:pPr>
            <a:r>
              <a:rPr sz="1950" b="1">
                <a:solidFill>
                  <a:srgbClr val="004B50"/>
                </a:solidFill>
              </a:rPr>
              <a:t>02</a:t>
            </a:r>
          </a:p>
        </p:txBody>
      </p:sp>
      <p:sp>
        <p:nvSpPr>
          <p:cNvPr id="12" name="">
            <a:extLst xmlns:a="http://schemas.openxmlformats.org/drawingml/2006/main">
              <a:ext uri="{FF2B5EF4-FFF2-40B4-BE49-F238E27FC236}">
                <a16:creationId xmlns:a16="http://schemas.microsoft.com/office/drawing/2014/main" id="{AF6F729F-82FC-406E-80E0-5B9ADD16BA22}"/>
              </a:ext>
            </a:extLst>
          </p:cNvPr>
          <p:cNvSpPr>
            <a:spLocks xmlns:a="http://schemas.openxmlformats.org/drawingml/2006/main" noGrp="1"/>
          </p:cNvSpPr>
          <p:nvPr/>
        </p:nvSpPr>
        <p:spPr>
          <a:xfrm xmlns:a="http://schemas.openxmlformats.org/drawingml/2006/main">
            <a:off x="1476375" y="27051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Controlled model</a:t>
            </a:r>
          </a:p>
        </p:txBody>
      </p:sp>
      <p:sp>
        <p:nvSpPr>
          <p:cNvPr id="13" name="">
            <a:extLst xmlns:a="http://schemas.openxmlformats.org/drawingml/2006/main">
              <a:ext uri="{FF2B5EF4-FFF2-40B4-BE49-F238E27FC236}">
                <a16:creationId xmlns:a16="http://schemas.microsoft.com/office/drawing/2014/main" id="{78E2C2E4-DBD6-4AFC-BBED-5EDC076A05EA}"/>
              </a:ext>
            </a:extLst>
          </p:cNvPr>
          <p:cNvSpPr>
            <a:spLocks xmlns:a="http://schemas.openxmlformats.org/drawingml/2006/main" noGrp="1"/>
          </p:cNvSpPr>
          <p:nvPr/>
        </p:nvSpPr>
        <p:spPr>
          <a:xfrm xmlns:a="http://schemas.openxmlformats.org/drawingml/2006/main">
            <a:off x="4191000" y="27051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StandardScaler + Logistic Regression for every shallow condition.</a:t>
            </a:r>
          </a:p>
        </p:txBody>
      </p:sp>
      <p:sp>
        <p:nvSpPr>
          <p:cNvPr id="14" name="">
            <a:extLst xmlns:a="http://schemas.openxmlformats.org/drawingml/2006/main">
              <a:ext uri="{FF2B5EF4-FFF2-40B4-BE49-F238E27FC236}">
                <a16:creationId xmlns:a16="http://schemas.microsoft.com/office/drawing/2014/main" id="{5ACC33BF-2AB5-4C29-AD06-C1D15F86FA45}"/>
              </a:ext>
            </a:extLst>
          </p:cNvPr>
          <p:cNvSpPr>
            <a:spLocks xmlns:a="http://schemas.openxmlformats.org/drawingml/2006/main" noGrp="1"/>
          </p:cNvSpPr>
          <p:nvPr/>
        </p:nvSpPr>
        <p:spPr>
          <a:xfrm xmlns:a="http://schemas.openxmlformats.org/drawingml/2006/main">
            <a:off x="723900" y="33528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71A876F-9D84-4972-9B5A-126614EC5AB0}"/>
              </a:ext>
            </a:extLst>
          </p:cNvPr>
          <p:cNvSpPr>
            <a:spLocks xmlns:a="http://schemas.openxmlformats.org/drawingml/2006/main" noGrp="1"/>
          </p:cNvSpPr>
          <p:nvPr/>
        </p:nvSpPr>
        <p:spPr>
          <a:xfrm xmlns:a="http://schemas.openxmlformats.org/drawingml/2006/main">
            <a:off x="704850" y="36957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A17B"/>
                </a:solidFill>
              </a:defRPr>
            </a:pPr>
            <a:r>
              <a:rPr sz="1950" b="1">
                <a:solidFill>
                  <a:srgbClr val="00A17B"/>
                </a:solidFill>
              </a:rPr>
              <a:t>03</a:t>
            </a:r>
          </a:p>
        </p:txBody>
      </p:sp>
      <p:sp>
        <p:nvSpPr>
          <p:cNvPr id="16" name="">
            <a:extLst xmlns:a="http://schemas.openxmlformats.org/drawingml/2006/main">
              <a:ext uri="{FF2B5EF4-FFF2-40B4-BE49-F238E27FC236}">
                <a16:creationId xmlns:a16="http://schemas.microsoft.com/office/drawing/2014/main" id="{CBB0525C-FDCA-4A6E-B4E5-AD0B68B07235}"/>
              </a:ext>
            </a:extLst>
          </p:cNvPr>
          <p:cNvSpPr>
            <a:spLocks xmlns:a="http://schemas.openxmlformats.org/drawingml/2006/main" noGrp="1"/>
          </p:cNvSpPr>
          <p:nvPr/>
        </p:nvSpPr>
        <p:spPr>
          <a:xfrm xmlns:a="http://schemas.openxmlformats.org/drawingml/2006/main">
            <a:off x="1476375" y="36957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Feature contrasts</a:t>
            </a:r>
          </a:p>
        </p:txBody>
      </p:sp>
      <p:sp>
        <p:nvSpPr>
          <p:cNvPr id="17" name="">
            <a:extLst xmlns:a="http://schemas.openxmlformats.org/drawingml/2006/main">
              <a:ext uri="{FF2B5EF4-FFF2-40B4-BE49-F238E27FC236}">
                <a16:creationId xmlns:a16="http://schemas.microsoft.com/office/drawing/2014/main" id="{0E999CD7-47F8-4958-A858-D2ED9A79E9F5}"/>
              </a:ext>
            </a:extLst>
          </p:cNvPr>
          <p:cNvSpPr>
            <a:spLocks xmlns:a="http://schemas.openxmlformats.org/drawingml/2006/main" noGrp="1"/>
          </p:cNvSpPr>
          <p:nvPr/>
        </p:nvSpPr>
        <p:spPr>
          <a:xfrm xmlns:a="http://schemas.openxmlformats.org/drawingml/2006/main">
            <a:off x="4191000" y="36957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Shape, contact/promotion, row position, masked text and frozen full text.</a:t>
            </a:r>
          </a:p>
        </p:txBody>
      </p:sp>
      <p:sp>
        <p:nvSpPr>
          <p:cNvPr id="18" name="">
            <a:extLst xmlns:a="http://schemas.openxmlformats.org/drawingml/2006/main">
              <a:ext uri="{FF2B5EF4-FFF2-40B4-BE49-F238E27FC236}">
                <a16:creationId xmlns:a16="http://schemas.microsoft.com/office/drawing/2014/main" id="{559AA8E1-151A-4B47-B362-269142AA0980}"/>
              </a:ext>
            </a:extLst>
          </p:cNvPr>
          <p:cNvSpPr>
            <a:spLocks xmlns:a="http://schemas.openxmlformats.org/drawingml/2006/main" noGrp="1"/>
          </p:cNvSpPr>
          <p:nvPr/>
        </p:nvSpPr>
        <p:spPr>
          <a:xfrm xmlns:a="http://schemas.openxmlformats.org/drawingml/2006/main">
            <a:off x="723900" y="43434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6B0EFBC-2050-4182-ACC5-8030E6F621D5}"/>
              </a:ext>
            </a:extLst>
          </p:cNvPr>
          <p:cNvSpPr>
            <a:spLocks xmlns:a="http://schemas.openxmlformats.org/drawingml/2006/main" noGrp="1"/>
          </p:cNvSpPr>
          <p:nvPr/>
        </p:nvSpPr>
        <p:spPr>
          <a:xfrm xmlns:a="http://schemas.openxmlformats.org/drawingml/2006/main">
            <a:off x="704850" y="46863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4B50"/>
                </a:solidFill>
              </a:defRPr>
            </a:pPr>
            <a:r>
              <a:rPr sz="1950" b="1">
                <a:solidFill>
                  <a:srgbClr val="004B50"/>
                </a:solidFill>
              </a:rPr>
              <a:t>04</a:t>
            </a:r>
          </a:p>
        </p:txBody>
      </p:sp>
      <p:sp>
        <p:nvSpPr>
          <p:cNvPr id="20" name="">
            <a:extLst xmlns:a="http://schemas.openxmlformats.org/drawingml/2006/main">
              <a:ext uri="{FF2B5EF4-FFF2-40B4-BE49-F238E27FC236}">
                <a16:creationId xmlns:a16="http://schemas.microsoft.com/office/drawing/2014/main" id="{8C21669B-FE10-43EE-9B10-13451930A905}"/>
              </a:ext>
            </a:extLst>
          </p:cNvPr>
          <p:cNvSpPr>
            <a:spLocks xmlns:a="http://schemas.openxmlformats.org/drawingml/2006/main" noGrp="1"/>
          </p:cNvSpPr>
          <p:nvPr/>
        </p:nvSpPr>
        <p:spPr>
          <a:xfrm xmlns:a="http://schemas.openxmlformats.org/drawingml/2006/main">
            <a:off x="1476375" y="46863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Evaluation</a:t>
            </a:r>
          </a:p>
        </p:txBody>
      </p:sp>
      <p:sp>
        <p:nvSpPr>
          <p:cNvPr id="21" name="">
            <a:extLst xmlns:a="http://schemas.openxmlformats.org/drawingml/2006/main">
              <a:ext uri="{FF2B5EF4-FFF2-40B4-BE49-F238E27FC236}">
                <a16:creationId xmlns:a16="http://schemas.microsoft.com/office/drawing/2014/main" id="{3C0BC98B-38C6-44AF-B908-E9413A286571}"/>
              </a:ext>
            </a:extLst>
          </p:cNvPr>
          <p:cNvSpPr>
            <a:spLocks xmlns:a="http://schemas.openxmlformats.org/drawingml/2006/main" noGrp="1"/>
          </p:cNvSpPr>
          <p:nvPr/>
        </p:nvSpPr>
        <p:spPr>
          <a:xfrm xmlns:a="http://schemas.openxmlformats.org/drawingml/2006/main">
            <a:off x="4191000" y="46863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Accuracy plus spam recall and spam F1, because ham is 86.62% of the data.</a:t>
            </a:r>
          </a:p>
        </p:txBody>
      </p:sp>
      <p:sp>
        <p:nvSpPr>
          <p:cNvPr id="22" name="">
            <a:extLst xmlns:a="http://schemas.openxmlformats.org/drawingml/2006/main">
              <a:ext uri="{FF2B5EF4-FFF2-40B4-BE49-F238E27FC236}">
                <a16:creationId xmlns:a16="http://schemas.microsoft.com/office/drawing/2014/main" id="{A28A43CE-C48B-49E9-901C-29FA39EA2AE6}"/>
              </a:ext>
            </a:extLst>
          </p:cNvPr>
          <p:cNvSpPr>
            <a:spLocks xmlns:a="http://schemas.openxmlformats.org/drawingml/2006/main" noGrp="1"/>
          </p:cNvSpPr>
          <p:nvPr/>
        </p:nvSpPr>
        <p:spPr>
          <a:xfrm xmlns:a="http://schemas.openxmlformats.org/drawingml/2006/main">
            <a:off x="723900" y="53340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4DD14F-5FC1-4D5A-8649-CA2858CCDFA7}"/>
              </a:ext>
            </a:extLst>
          </p:cNvPr>
          <p:cNvSpPr>
            <a:spLocks xmlns:a="http://schemas.openxmlformats.org/drawingml/2006/main" noGrp="1"/>
          </p:cNvSpPr>
          <p:nvPr/>
        </p:nvSpPr>
        <p:spPr>
          <a:xfrm xmlns:a="http://schemas.openxmlformats.org/drawingml/2006/main">
            <a:off x="1524000" y="58102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04B50"/>
                </a:solidFill>
              </a:defRPr>
            </a:pPr>
            <a:r>
              <a:rPr sz="1500" b="1">
                <a:solidFill>
                  <a:srgbClr val="004B50"/>
                </a:solidFill>
              </a:rPr>
              <a:t>Interpretation rule: high shallow performance signals reliance on surface correlations - not semantic understanding.</a:t>
            </a:r>
          </a:p>
        </p:txBody>
      </p:sp>
    </p:spTree>
    <p:extLst>
      <p:ext uri="{BB962C8B-B14F-4D97-AF65-F5344CB8AC3E}">
        <p14:creationId xmlns:p14="http://schemas.microsoft.com/office/powerpoint/2010/main" val="2558843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kicker-3">
            <a:extLst xmlns:a="http://schemas.openxmlformats.org/drawingml/2006/main">
              <a:ext uri="{FF2B5EF4-FFF2-40B4-BE49-F238E27FC236}">
                <a16:creationId xmlns:a16="http://schemas.microsoft.com/office/drawing/2014/main" id="{ABBE6586-5B21-4BA0-ABF1-1B9CA363AC27}"/>
              </a:ext>
            </a:extLst>
          </p:cNvPr>
          <p:cNvSpPr>
            <a:spLocks xmlns:a="http://schemas.openxmlformats.org/drawingml/2006/main" noGrp="1"/>
          </p:cNvSpPr>
          <p:nvPr/>
        </p:nvSpPr>
        <p:spPr>
          <a:xfrm xmlns:a="http://schemas.openxmlformats.org/drawingml/2006/main">
            <a:off x="5334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TARGET 5 / OUTCOME</a:t>
            </a:r>
          </a:p>
        </p:txBody>
      </p:sp>
      <p:sp>
        <p:nvSpPr>
          <p:cNvPr id="2" name="title-3">
            <a:extLst xmlns:a="http://schemas.openxmlformats.org/drawingml/2006/main">
              <a:ext uri="{FF2B5EF4-FFF2-40B4-BE49-F238E27FC236}">
                <a16:creationId xmlns:a16="http://schemas.microsoft.com/office/drawing/2014/main" id="{21091825-82EB-4B42-98D2-4C29B93A4C1D}"/>
              </a:ext>
            </a:extLst>
          </p:cNvPr>
          <p:cNvSpPr>
            <a:spLocks xmlns:a="http://schemas.openxmlformats.org/drawingml/2006/main" noGrp="1"/>
          </p:cNvSpPr>
          <p:nvPr/>
        </p:nvSpPr>
        <p:spPr>
          <a:xfrm xmlns:a="http://schemas.openxmlformats.org/drawingml/2006/main">
            <a:off x="533400" y="70485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101010"/>
                </a:solidFill>
              </a:defRPr>
            </a:pPr>
            <a:r>
              <a:rPr sz="2850" b="1">
                <a:solidFill>
                  <a:srgbClr val="101010"/>
                </a:solidFill>
              </a:rPr>
              <a:t>Surface cues explain almost all headline accuracy</a:t>
            </a:r>
          </a:p>
        </p:txBody>
      </p:sp>
      <p:sp>
        <p:nvSpPr>
          <p:cNvPr id="3" name="">
            <a:extLst xmlns:a="http://schemas.openxmlformats.org/drawingml/2006/main">
              <a:ext uri="{FF2B5EF4-FFF2-40B4-BE49-F238E27FC236}">
                <a16:creationId xmlns:a16="http://schemas.microsoft.com/office/drawing/2014/main" id="{BBF40EF4-2AA1-4A1C-8090-3B2D8EFB527F}"/>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5E6768"/>
                </a:solidFill>
              </a:defRPr>
            </a:pPr>
            <a:r>
              <a:rPr sz="900" b="0">
                <a:solidFill>
                  <a:srgbClr val="5E6768"/>
                </a:solidFill>
              </a:rPr>
              <a:t>03</a:t>
            </a:r>
          </a:p>
        </p:txBody>
      </p:sp>
      <p:sp>
        <p:nvSpPr>
          <p:cNvPr id="4" name="">
            <a:extLst xmlns:a="http://schemas.openxmlformats.org/drawingml/2006/main">
              <a:ext uri="{FF2B5EF4-FFF2-40B4-BE49-F238E27FC236}">
                <a16:creationId xmlns:a16="http://schemas.microsoft.com/office/drawing/2014/main" id="{7809B869-9233-4F4D-810E-2E1306EAED3E}"/>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C6EF089-B2D3-4E83-B9BE-997ECBEC5DDA}"/>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8963FD-6110-4DDE-A9CC-9609A6288C85}"/>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graphicFrame>
        <p:nvGraphicFramePr>
          <p:cNvPr id="20" name="Chart"/>
          <p:cNvGraphicFramePr/>
          <p:nvPr/>
        </p:nvGraphicFramePr>
        <p:xfrm>
          <a:off xmlns:a="http://schemas.openxmlformats.org/drawingml/2006/main" x="666750" y="1666875"/>
          <a:ext xmlns:a="http://schemas.openxmlformats.org/drawingml/2006/main" cx="7524750" cy="4000500"/>
        </p:xfrm>
        <a:graphic xmlns:a="http://schemas.openxmlformats.org/drawingml/2006/main">
          <a:graphicData uri="http://schemas.openxmlformats.org/drawingml/2006/chart">
            <c:chart xmlns:r="http://schemas.openxmlformats.org/officeDocument/2006/relationships" xmlns:c="http://schemas.openxmlformats.org/drawingml/2006/chart" r:id="Ra0c4c2dd05d94485"/>
          </a:graphicData>
        </a:graphic>
      </p:graphicFrame>
      <p:sp>
        <p:nvSpPr>
          <p:cNvPr id="8" name="">
            <a:extLst xmlns:a="http://schemas.openxmlformats.org/drawingml/2006/main">
              <a:ext uri="{FF2B5EF4-FFF2-40B4-BE49-F238E27FC236}">
                <a16:creationId xmlns:a16="http://schemas.microsoft.com/office/drawing/2014/main" id="{A62AD5A8-E3C9-4549-A8BC-37D94AE2E245}"/>
              </a:ext>
            </a:extLst>
          </p:cNvPr>
          <p:cNvSpPr>
            <a:spLocks xmlns:a="http://schemas.openxmlformats.org/drawingml/2006/main" noGrp="1"/>
          </p:cNvSpPr>
          <p:nvPr/>
        </p:nvSpPr>
        <p:spPr>
          <a:xfrm xmlns:a="http://schemas.openxmlformats.org/drawingml/2006/main">
            <a:off x="8715375" y="21431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375" b="1">
                <a:solidFill>
                  <a:srgbClr val="00A17B"/>
                </a:solidFill>
              </a:defRPr>
            </a:pPr>
            <a:r>
              <a:rPr sz="3375" b="1">
                <a:solidFill>
                  <a:srgbClr val="00A17B"/>
                </a:solidFill>
              </a:rPr>
              <a:t>98.11%</a:t>
            </a:r>
          </a:p>
        </p:txBody>
      </p:sp>
      <p:sp>
        <p:nvSpPr>
          <p:cNvPr id="9" name="">
            <a:extLst xmlns:a="http://schemas.openxmlformats.org/drawingml/2006/main">
              <a:ext uri="{FF2B5EF4-FFF2-40B4-BE49-F238E27FC236}">
                <a16:creationId xmlns:a16="http://schemas.microsoft.com/office/drawing/2014/main" id="{7A8D0A80-B1B3-4152-A6BB-9738FEBCBF13}"/>
              </a:ext>
            </a:extLst>
          </p:cNvPr>
          <p:cNvSpPr>
            <a:spLocks xmlns:a="http://schemas.openxmlformats.org/drawingml/2006/main" noGrp="1"/>
          </p:cNvSpPr>
          <p:nvPr/>
        </p:nvSpPr>
        <p:spPr>
          <a:xfrm xmlns:a="http://schemas.openxmlformats.org/drawingml/2006/main">
            <a:off x="8715375" y="27813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5E6768"/>
                </a:solidFill>
              </a:defRPr>
            </a:pPr>
            <a:r>
              <a:rPr sz="1350" b="0">
                <a:solidFill>
                  <a:srgbClr val="5E6768"/>
                </a:solidFill>
              </a:rPr>
              <a:t>contact + promotion</a:t>
            </a:r>
          </a:p>
          <a:p xmlns:a="http://schemas.openxmlformats.org/drawingml/2006/main">
            <a:pPr algn="ctr">
              <a:buNone/>
              <a:defRPr sz="1350" b="0">
                <a:solidFill>
                  <a:srgbClr val="5E6768"/>
                </a:solidFill>
              </a:defRPr>
            </a:pPr>
            <a:r>
              <a:rPr sz="1350" b="0">
                <a:solidFill>
                  <a:srgbClr val="5E6768"/>
                </a:solidFill>
              </a:rPr>
              <a:t>accuracy</a:t>
            </a:r>
          </a:p>
        </p:txBody>
      </p:sp>
      <p:sp>
        <p:nvSpPr>
          <p:cNvPr id="10" name="">
            <a:extLst xmlns:a="http://schemas.openxmlformats.org/drawingml/2006/main">
              <a:ext uri="{FF2B5EF4-FFF2-40B4-BE49-F238E27FC236}">
                <a16:creationId xmlns:a16="http://schemas.microsoft.com/office/drawing/2014/main" id="{EC3092B0-D3FD-409E-BDDD-E29DB438D7AD}"/>
              </a:ext>
            </a:extLst>
          </p:cNvPr>
          <p:cNvSpPr>
            <a:spLocks xmlns:a="http://schemas.openxmlformats.org/drawingml/2006/main" noGrp="1"/>
          </p:cNvSpPr>
          <p:nvPr/>
        </p:nvSpPr>
        <p:spPr>
          <a:xfrm xmlns:a="http://schemas.openxmlformats.org/drawingml/2006/main">
            <a:off x="8620125" y="39052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04B50"/>
                </a:solidFill>
              </a:defRPr>
            </a:pPr>
            <a:r>
              <a:rPr sz="1650" b="1">
                <a:solidFill>
                  <a:srgbClr val="004B50"/>
                </a:solidFill>
              </a:rPr>
              <a:t>Row position = majority baseline</a:t>
            </a:r>
          </a:p>
        </p:txBody>
      </p:sp>
      <p:sp>
        <p:nvSpPr>
          <p:cNvPr id="11" name="">
            <a:extLst xmlns:a="http://schemas.openxmlformats.org/drawingml/2006/main">
              <a:ext uri="{FF2B5EF4-FFF2-40B4-BE49-F238E27FC236}">
                <a16:creationId xmlns:a16="http://schemas.microsoft.com/office/drawing/2014/main" id="{39F802F1-2B24-4C5E-9FD6-2105091264A2}"/>
              </a:ext>
            </a:extLst>
          </p:cNvPr>
          <p:cNvSpPr>
            <a:spLocks xmlns:a="http://schemas.openxmlformats.org/drawingml/2006/main" noGrp="1"/>
          </p:cNvSpPr>
          <p:nvPr/>
        </p:nvSpPr>
        <p:spPr>
          <a:xfrm xmlns:a="http://schemas.openxmlformats.org/drawingml/2006/main">
            <a:off x="8715375" y="45529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5E6768"/>
                </a:solidFill>
              </a:defRPr>
            </a:pPr>
            <a:r>
              <a:rPr sz="1350" b="0">
                <a:solidFill>
                  <a:srgbClr val="5E6768"/>
                </a:solidFill>
              </a:rPr>
              <a:t>No row-order shortcut was detected.</a:t>
            </a:r>
          </a:p>
        </p:txBody>
      </p:sp>
    </p:spTree>
    <p:extLst>
      <p:ext uri="{BB962C8B-B14F-4D97-AF65-F5344CB8AC3E}">
        <p14:creationId xmlns:p14="http://schemas.microsoft.com/office/powerpoint/2010/main" val="16194053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kicker-4">
            <a:extLst xmlns:a="http://schemas.openxmlformats.org/drawingml/2006/main">
              <a:ext uri="{FF2B5EF4-FFF2-40B4-BE49-F238E27FC236}">
                <a16:creationId xmlns:a16="http://schemas.microsoft.com/office/drawing/2014/main" id="{8E5EFA75-8FE5-44FB-AA2C-D61EE27B66E5}"/>
              </a:ext>
            </a:extLst>
          </p:cNvPr>
          <p:cNvSpPr>
            <a:spLocks xmlns:a="http://schemas.openxmlformats.org/drawingml/2006/main" noGrp="1"/>
          </p:cNvSpPr>
          <p:nvPr/>
        </p:nvSpPr>
        <p:spPr>
          <a:xfrm xmlns:a="http://schemas.openxmlformats.org/drawingml/2006/main">
            <a:off x="5334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TARGET 5 / REPRESENTATIVE CASES</a:t>
            </a:r>
          </a:p>
        </p:txBody>
      </p:sp>
      <p:sp>
        <p:nvSpPr>
          <p:cNvPr id="2" name="title-4">
            <a:extLst xmlns:a="http://schemas.openxmlformats.org/drawingml/2006/main">
              <a:ext uri="{FF2B5EF4-FFF2-40B4-BE49-F238E27FC236}">
                <a16:creationId xmlns:a16="http://schemas.microsoft.com/office/drawing/2014/main" id="{991A1951-8E83-405A-A553-2DFE90D76200}"/>
              </a:ext>
            </a:extLst>
          </p:cNvPr>
          <p:cNvSpPr>
            <a:spLocks xmlns:a="http://schemas.openxmlformats.org/drawingml/2006/main" noGrp="1"/>
          </p:cNvSpPr>
          <p:nvPr/>
        </p:nvSpPr>
        <p:spPr>
          <a:xfrm xmlns:a="http://schemas.openxmlformats.org/drawingml/2006/main">
            <a:off x="533400" y="70485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101010"/>
                </a:solidFill>
              </a:defRPr>
            </a:pPr>
            <a:r>
              <a:rPr sz="2850" b="1">
                <a:solidFill>
                  <a:srgbClr val="101010"/>
                </a:solidFill>
              </a:rPr>
              <a:t>Shortcuts fail in both directions</a:t>
            </a:r>
          </a:p>
        </p:txBody>
      </p:sp>
      <p:sp>
        <p:nvSpPr>
          <p:cNvPr id="3" name="">
            <a:extLst xmlns:a="http://schemas.openxmlformats.org/drawingml/2006/main">
              <a:ext uri="{FF2B5EF4-FFF2-40B4-BE49-F238E27FC236}">
                <a16:creationId xmlns:a16="http://schemas.microsoft.com/office/drawing/2014/main" id="{A2290AAC-7C16-40F7-B5B4-A9402CBD2554}"/>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5E6768"/>
                </a:solidFill>
              </a:defRPr>
            </a:pPr>
            <a:r>
              <a:rPr sz="900" b="0">
                <a:solidFill>
                  <a:srgbClr val="5E6768"/>
                </a:solidFill>
              </a:rPr>
              <a:t>04</a:t>
            </a:r>
          </a:p>
        </p:txBody>
      </p:sp>
      <p:sp>
        <p:nvSpPr>
          <p:cNvPr id="4" name="">
            <a:extLst xmlns:a="http://schemas.openxmlformats.org/drawingml/2006/main">
              <a:ext uri="{FF2B5EF4-FFF2-40B4-BE49-F238E27FC236}">
                <a16:creationId xmlns:a16="http://schemas.microsoft.com/office/drawing/2014/main" id="{0F71DD1A-41E6-43C1-800F-BC74370A3E44}"/>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908EED-5AC2-46A7-892C-BE818AA9BB1E}"/>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4A421B-FE34-459F-A098-95AFA6B61D31}"/>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B380228-5DE5-482F-AC26-4F04CD68FE8B}"/>
              </a:ext>
            </a:extLst>
          </p:cNvPr>
          <p:cNvSpPr>
            <a:spLocks xmlns:a="http://schemas.openxmlformats.org/drawingml/2006/main" noGrp="1"/>
          </p:cNvSpPr>
          <p:nvPr/>
        </p:nvSpPr>
        <p:spPr>
          <a:xfrm xmlns:a="http://schemas.openxmlformats.org/drawingml/2006/main">
            <a:off x="590550" y="1809750"/>
            <a:ext cx="3333750" cy="3476625"/>
          </a:xfrm>
          <a:prstGeom xmlns:a="http://schemas.openxmlformats.org/drawingml/2006/main" prst="roundRect">
            <a:avLst>
              <a:gd name="adj" fmla="val 3429"/>
            </a:avLst>
          </a:prstGeom>
          <a:solidFill xmlns:a="http://schemas.openxmlformats.org/drawingml/2006/main">
            <a:srgbClr val="EEF6F1"/>
          </a:solidFill>
          <a:ln xmlns:a="http://schemas.openxmlformats.org/drawingml/2006/main" w="9525">
            <a:solidFill>
              <a:srgbClr val="C7D8D2"/>
            </a:solidFill>
            <a:prstDash val="solid"/>
          </a:ln>
        </p:spPr>
      </p:sp>
      <p:sp>
        <p:nvSpPr>
          <p:cNvPr id="8" name="">
            <a:extLst xmlns:a="http://schemas.openxmlformats.org/drawingml/2006/main">
              <a:ext uri="{FF2B5EF4-FFF2-40B4-BE49-F238E27FC236}">
                <a16:creationId xmlns:a16="http://schemas.microsoft.com/office/drawing/2014/main" id="{705CAF96-72C5-4B71-B2F9-949C905BC044}"/>
              </a:ext>
            </a:extLst>
          </p:cNvPr>
          <p:cNvSpPr>
            <a:spLocks xmlns:a="http://schemas.openxmlformats.org/drawingml/2006/main" noGrp="1"/>
          </p:cNvSpPr>
          <p:nvPr/>
        </p:nvSpPr>
        <p:spPr>
          <a:xfrm xmlns:a="http://schemas.openxmlformats.org/drawingml/2006/main">
            <a:off x="800100" y="2000250"/>
            <a:ext cx="90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E87843"/>
                </a:solidFill>
              </a:defRPr>
            </a:pPr>
            <a:r>
              <a:rPr sz="1650" b="1">
                <a:solidFill>
                  <a:srgbClr val="E87843"/>
                </a:solidFill>
              </a:rPr>
              <a:t>H0946</a:t>
            </a:r>
          </a:p>
        </p:txBody>
      </p:sp>
      <p:sp>
        <p:nvSpPr>
          <p:cNvPr id="9" name="">
            <a:extLst xmlns:a="http://schemas.openxmlformats.org/drawingml/2006/main">
              <a:ext uri="{FF2B5EF4-FFF2-40B4-BE49-F238E27FC236}">
                <a16:creationId xmlns:a16="http://schemas.microsoft.com/office/drawing/2014/main" id="{40AFDA23-AD2E-4877-A122-C1135D19EB28}"/>
              </a:ext>
            </a:extLst>
          </p:cNvPr>
          <p:cNvSpPr>
            <a:spLocks xmlns:a="http://schemas.openxmlformats.org/drawingml/2006/main" noGrp="1"/>
          </p:cNvSpPr>
          <p:nvPr/>
        </p:nvSpPr>
        <p:spPr>
          <a:xfrm xmlns:a="http://schemas.openxmlformats.org/drawingml/2006/main">
            <a:off x="1714500" y="2000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b="1">
                <a:solidFill>
                  <a:srgbClr val="5E6768"/>
                </a:solidFill>
              </a:defRPr>
            </a:pPr>
            <a:r>
              <a:rPr sz="1050" b="1">
                <a:solidFill>
                  <a:srgbClr val="5E6768"/>
                </a:solidFill>
              </a:rPr>
              <a:t>ham / false positive</a:t>
            </a:r>
          </a:p>
        </p:txBody>
      </p:sp>
      <p:sp>
        <p:nvSpPr>
          <p:cNvPr id="10" name="">
            <a:extLst xmlns:a="http://schemas.openxmlformats.org/drawingml/2006/main">
              <a:ext uri="{FF2B5EF4-FFF2-40B4-BE49-F238E27FC236}">
                <a16:creationId xmlns:a16="http://schemas.microsoft.com/office/drawing/2014/main" id="{23E5DEF2-606D-4656-9259-2D35F64A8B08}"/>
              </a:ext>
            </a:extLst>
          </p:cNvPr>
          <p:cNvSpPr>
            <a:spLocks xmlns:a="http://schemas.openxmlformats.org/drawingml/2006/main" noGrp="1"/>
          </p:cNvSpPr>
          <p:nvPr/>
        </p:nvSpPr>
        <p:spPr>
          <a:xfrm xmlns:a="http://schemas.openxmlformats.org/drawingml/2006/main">
            <a:off x="800100" y="2524125"/>
            <a:ext cx="29146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101010"/>
                </a:solidFill>
              </a:defRPr>
            </a:pPr>
            <a:r>
              <a:rPr sz="1350" b="0">
                <a:solidFill>
                  <a:srgbClr val="101010"/>
                </a:solidFill>
              </a:rPr>
              <a:t>A legitimate rent-price discussion is pushed toward spam by 11 digits and three currency markers.</a:t>
            </a:r>
          </a:p>
        </p:txBody>
      </p:sp>
      <p:sp>
        <p:nvSpPr>
          <p:cNvPr id="11" name="">
            <a:extLst xmlns:a="http://schemas.openxmlformats.org/drawingml/2006/main">
              <a:ext uri="{FF2B5EF4-FFF2-40B4-BE49-F238E27FC236}">
                <a16:creationId xmlns:a16="http://schemas.microsoft.com/office/drawing/2014/main" id="{5592634D-A091-4DEA-BA93-7DDAC227C548}"/>
              </a:ext>
            </a:extLst>
          </p:cNvPr>
          <p:cNvSpPr>
            <a:spLocks xmlns:a="http://schemas.openxmlformats.org/drawingml/2006/main" noGrp="1"/>
          </p:cNvSpPr>
          <p:nvPr/>
        </p:nvSpPr>
        <p:spPr>
          <a:xfrm xmlns:a="http://schemas.openxmlformats.org/drawingml/2006/main">
            <a:off x="800100" y="4000500"/>
            <a:ext cx="2914650" cy="19050"/>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58B048E-CF08-42DE-908C-AAFC86A61EF1}"/>
              </a:ext>
            </a:extLst>
          </p:cNvPr>
          <p:cNvSpPr>
            <a:spLocks xmlns:a="http://schemas.openxmlformats.org/drawingml/2006/main" noGrp="1"/>
          </p:cNvSpPr>
          <p:nvPr/>
        </p:nvSpPr>
        <p:spPr>
          <a:xfrm xmlns:a="http://schemas.openxmlformats.org/drawingml/2006/main">
            <a:off x="800100" y="42100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E87843"/>
                </a:solidFill>
              </a:defRPr>
            </a:pPr>
            <a:r>
              <a:rPr sz="1275" b="1">
                <a:solidFill>
                  <a:srgbClr val="E87843"/>
                </a:solidFill>
              </a:rPr>
              <a:t>Shallow  0.992</a:t>
            </a:r>
          </a:p>
        </p:txBody>
      </p:sp>
      <p:sp>
        <p:nvSpPr>
          <p:cNvPr id="13" name="">
            <a:extLst xmlns:a="http://schemas.openxmlformats.org/drawingml/2006/main">
              <a:ext uri="{FF2B5EF4-FFF2-40B4-BE49-F238E27FC236}">
                <a16:creationId xmlns:a16="http://schemas.microsoft.com/office/drawing/2014/main" id="{D73E1A52-3F29-4469-A788-FAF06FA3B44E}"/>
              </a:ext>
            </a:extLst>
          </p:cNvPr>
          <p:cNvSpPr>
            <a:spLocks xmlns:a="http://schemas.openxmlformats.org/drawingml/2006/main" noGrp="1"/>
          </p:cNvSpPr>
          <p:nvPr/>
        </p:nvSpPr>
        <p:spPr>
          <a:xfrm xmlns:a="http://schemas.openxmlformats.org/drawingml/2006/main">
            <a:off x="2190750" y="42100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275" b="1">
                <a:solidFill>
                  <a:srgbClr val="101010"/>
                </a:solidFill>
              </a:defRPr>
            </a:pPr>
            <a:r>
              <a:rPr sz="1275" b="1">
                <a:solidFill>
                  <a:srgbClr val="101010"/>
                </a:solidFill>
              </a:rPr>
              <a:t>Full text  0.028</a:t>
            </a:r>
          </a:p>
        </p:txBody>
      </p:sp>
      <p:sp>
        <p:nvSpPr>
          <p:cNvPr id="14" name="">
            <a:extLst xmlns:a="http://schemas.openxmlformats.org/drawingml/2006/main">
              <a:ext uri="{FF2B5EF4-FFF2-40B4-BE49-F238E27FC236}">
                <a16:creationId xmlns:a16="http://schemas.microsoft.com/office/drawing/2014/main" id="{BDF3FC43-EF5B-40DD-A993-7172B25F6DB4}"/>
              </a:ext>
            </a:extLst>
          </p:cNvPr>
          <p:cNvSpPr>
            <a:spLocks xmlns:a="http://schemas.openxmlformats.org/drawingml/2006/main" noGrp="1"/>
          </p:cNvSpPr>
          <p:nvPr/>
        </p:nvSpPr>
        <p:spPr>
          <a:xfrm xmlns:a="http://schemas.openxmlformats.org/drawingml/2006/main">
            <a:off x="4429125" y="1809750"/>
            <a:ext cx="3333750" cy="3476625"/>
          </a:xfrm>
          <a:prstGeom xmlns:a="http://schemas.openxmlformats.org/drawingml/2006/main" prst="roundRect">
            <a:avLst>
              <a:gd name="adj" fmla="val 3429"/>
            </a:avLst>
          </a:prstGeom>
          <a:solidFill xmlns:a="http://schemas.openxmlformats.org/drawingml/2006/main">
            <a:srgbClr val="EEF6F1"/>
          </a:solidFill>
          <a:ln xmlns:a="http://schemas.openxmlformats.org/drawingml/2006/main" w="9525">
            <a:solidFill>
              <a:srgbClr val="C7D8D2"/>
            </a:solidFill>
            <a:prstDash val="solid"/>
          </a:ln>
        </p:spPr>
      </p:sp>
      <p:sp>
        <p:nvSpPr>
          <p:cNvPr id="15" name="">
            <a:extLst xmlns:a="http://schemas.openxmlformats.org/drawingml/2006/main">
              <a:ext uri="{FF2B5EF4-FFF2-40B4-BE49-F238E27FC236}">
                <a16:creationId xmlns:a16="http://schemas.microsoft.com/office/drawing/2014/main" id="{326146C2-A0F3-4937-BF8C-F213AAE2C0D8}"/>
              </a:ext>
            </a:extLst>
          </p:cNvPr>
          <p:cNvSpPr>
            <a:spLocks xmlns:a="http://schemas.openxmlformats.org/drawingml/2006/main" noGrp="1"/>
          </p:cNvSpPr>
          <p:nvPr/>
        </p:nvSpPr>
        <p:spPr>
          <a:xfrm xmlns:a="http://schemas.openxmlformats.org/drawingml/2006/main">
            <a:off x="4638675" y="2000250"/>
            <a:ext cx="90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004B50"/>
                </a:solidFill>
              </a:defRPr>
            </a:pPr>
            <a:r>
              <a:rPr sz="1650" b="1">
                <a:solidFill>
                  <a:srgbClr val="004B50"/>
                </a:solidFill>
              </a:rPr>
              <a:t>H0044</a:t>
            </a:r>
          </a:p>
        </p:txBody>
      </p:sp>
      <p:sp>
        <p:nvSpPr>
          <p:cNvPr id="16" name="">
            <a:extLst xmlns:a="http://schemas.openxmlformats.org/drawingml/2006/main">
              <a:ext uri="{FF2B5EF4-FFF2-40B4-BE49-F238E27FC236}">
                <a16:creationId xmlns:a16="http://schemas.microsoft.com/office/drawing/2014/main" id="{C2545450-FA74-46B9-8AD5-DFC490F40FE2}"/>
              </a:ext>
            </a:extLst>
          </p:cNvPr>
          <p:cNvSpPr>
            <a:spLocks xmlns:a="http://schemas.openxmlformats.org/drawingml/2006/main" noGrp="1"/>
          </p:cNvSpPr>
          <p:nvPr/>
        </p:nvSpPr>
        <p:spPr>
          <a:xfrm xmlns:a="http://schemas.openxmlformats.org/drawingml/2006/main">
            <a:off x="5553075" y="2000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b="1">
                <a:solidFill>
                  <a:srgbClr val="5E6768"/>
                </a:solidFill>
              </a:defRPr>
            </a:pPr>
            <a:r>
              <a:rPr sz="1050" b="1">
                <a:solidFill>
                  <a:srgbClr val="5E6768"/>
                </a:solidFill>
              </a:rPr>
              <a:t>spam / false negative</a:t>
            </a:r>
          </a:p>
        </p:txBody>
      </p:sp>
      <p:sp>
        <p:nvSpPr>
          <p:cNvPr id="17" name="">
            <a:extLst xmlns:a="http://schemas.openxmlformats.org/drawingml/2006/main">
              <a:ext uri="{FF2B5EF4-FFF2-40B4-BE49-F238E27FC236}">
                <a16:creationId xmlns:a16="http://schemas.microsoft.com/office/drawing/2014/main" id="{C37687A1-163D-4292-B17B-6F8765E48864}"/>
              </a:ext>
            </a:extLst>
          </p:cNvPr>
          <p:cNvSpPr>
            <a:spLocks xmlns:a="http://schemas.openxmlformats.org/drawingml/2006/main" noGrp="1"/>
          </p:cNvSpPr>
          <p:nvPr/>
        </p:nvSpPr>
        <p:spPr>
          <a:xfrm xmlns:a="http://schemas.openxmlformats.org/drawingml/2006/main">
            <a:off x="4638675" y="2524125"/>
            <a:ext cx="29146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101010"/>
                </a:solidFill>
              </a:defRPr>
            </a:pPr>
            <a:r>
              <a:rPr sz="1350" b="0">
                <a:solidFill>
                  <a:srgbClr val="101010"/>
                </a:solidFill>
              </a:rPr>
              <a:t>A ringtone-club solicitation lacks the usual phone and price pattern, so the shallow probe misses it.</a:t>
            </a:r>
          </a:p>
        </p:txBody>
      </p:sp>
      <p:sp>
        <p:nvSpPr>
          <p:cNvPr id="18" name="">
            <a:extLst xmlns:a="http://schemas.openxmlformats.org/drawingml/2006/main">
              <a:ext uri="{FF2B5EF4-FFF2-40B4-BE49-F238E27FC236}">
                <a16:creationId xmlns:a16="http://schemas.microsoft.com/office/drawing/2014/main" id="{16B7AEF6-781D-4CBA-A320-FD228CBE96D7}"/>
              </a:ext>
            </a:extLst>
          </p:cNvPr>
          <p:cNvSpPr>
            <a:spLocks xmlns:a="http://schemas.openxmlformats.org/drawingml/2006/main" noGrp="1"/>
          </p:cNvSpPr>
          <p:nvPr/>
        </p:nvSpPr>
        <p:spPr>
          <a:xfrm xmlns:a="http://schemas.openxmlformats.org/drawingml/2006/main">
            <a:off x="4638675" y="4000500"/>
            <a:ext cx="2914650" cy="19050"/>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6536D7-35B6-4F17-B756-E5F7C7AF055C}"/>
              </a:ext>
            </a:extLst>
          </p:cNvPr>
          <p:cNvSpPr>
            <a:spLocks xmlns:a="http://schemas.openxmlformats.org/drawingml/2006/main" noGrp="1"/>
          </p:cNvSpPr>
          <p:nvPr/>
        </p:nvSpPr>
        <p:spPr>
          <a:xfrm xmlns:a="http://schemas.openxmlformats.org/drawingml/2006/main">
            <a:off x="4638675" y="42100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004B50"/>
                </a:solidFill>
              </a:defRPr>
            </a:pPr>
            <a:r>
              <a:rPr sz="1275" b="1">
                <a:solidFill>
                  <a:srgbClr val="004B50"/>
                </a:solidFill>
              </a:rPr>
              <a:t>Shallow  0.085</a:t>
            </a:r>
          </a:p>
        </p:txBody>
      </p:sp>
      <p:sp>
        <p:nvSpPr>
          <p:cNvPr id="20" name="">
            <a:extLst xmlns:a="http://schemas.openxmlformats.org/drawingml/2006/main">
              <a:ext uri="{FF2B5EF4-FFF2-40B4-BE49-F238E27FC236}">
                <a16:creationId xmlns:a16="http://schemas.microsoft.com/office/drawing/2014/main" id="{93E0F2C6-689F-4F07-89AE-6E8BD9D57597}"/>
              </a:ext>
            </a:extLst>
          </p:cNvPr>
          <p:cNvSpPr>
            <a:spLocks xmlns:a="http://schemas.openxmlformats.org/drawingml/2006/main" noGrp="1"/>
          </p:cNvSpPr>
          <p:nvPr/>
        </p:nvSpPr>
        <p:spPr>
          <a:xfrm xmlns:a="http://schemas.openxmlformats.org/drawingml/2006/main">
            <a:off x="6029325" y="42100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275" b="1">
                <a:solidFill>
                  <a:srgbClr val="101010"/>
                </a:solidFill>
              </a:defRPr>
            </a:pPr>
            <a:r>
              <a:rPr sz="1275" b="1">
                <a:solidFill>
                  <a:srgbClr val="101010"/>
                </a:solidFill>
              </a:rPr>
              <a:t>Full text  0.961</a:t>
            </a:r>
          </a:p>
        </p:txBody>
      </p:sp>
      <p:sp>
        <p:nvSpPr>
          <p:cNvPr id="21" name="">
            <a:extLst xmlns:a="http://schemas.openxmlformats.org/drawingml/2006/main">
              <a:ext uri="{FF2B5EF4-FFF2-40B4-BE49-F238E27FC236}">
                <a16:creationId xmlns:a16="http://schemas.microsoft.com/office/drawing/2014/main" id="{5A3AF671-2CA8-4861-A763-332D836A6D5E}"/>
              </a:ext>
            </a:extLst>
          </p:cNvPr>
          <p:cNvSpPr>
            <a:spLocks xmlns:a="http://schemas.openxmlformats.org/drawingml/2006/main" noGrp="1"/>
          </p:cNvSpPr>
          <p:nvPr/>
        </p:nvSpPr>
        <p:spPr>
          <a:xfrm xmlns:a="http://schemas.openxmlformats.org/drawingml/2006/main">
            <a:off x="8267700" y="1809750"/>
            <a:ext cx="3333750" cy="3476625"/>
          </a:xfrm>
          <a:prstGeom xmlns:a="http://schemas.openxmlformats.org/drawingml/2006/main" prst="roundRect">
            <a:avLst>
              <a:gd name="adj" fmla="val 3429"/>
            </a:avLst>
          </a:prstGeom>
          <a:solidFill xmlns:a="http://schemas.openxmlformats.org/drawingml/2006/main">
            <a:srgbClr val="EEF6F1"/>
          </a:solidFill>
          <a:ln xmlns:a="http://schemas.openxmlformats.org/drawingml/2006/main" w="9525">
            <a:solidFill>
              <a:srgbClr val="C7D8D2"/>
            </a:solidFill>
            <a:prstDash val="solid"/>
          </a:ln>
        </p:spPr>
      </p:sp>
      <p:sp>
        <p:nvSpPr>
          <p:cNvPr id="22" name="">
            <a:extLst xmlns:a="http://schemas.openxmlformats.org/drawingml/2006/main">
              <a:ext uri="{FF2B5EF4-FFF2-40B4-BE49-F238E27FC236}">
                <a16:creationId xmlns:a16="http://schemas.microsoft.com/office/drawing/2014/main" id="{585B1A2C-C2D6-4313-B3A2-2C11AA91D39A}"/>
              </a:ext>
            </a:extLst>
          </p:cNvPr>
          <p:cNvSpPr>
            <a:spLocks xmlns:a="http://schemas.openxmlformats.org/drawingml/2006/main" noGrp="1"/>
          </p:cNvSpPr>
          <p:nvPr/>
        </p:nvSpPr>
        <p:spPr>
          <a:xfrm xmlns:a="http://schemas.openxmlformats.org/drawingml/2006/main">
            <a:off x="8477250" y="2000250"/>
            <a:ext cx="904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00A17B"/>
                </a:solidFill>
              </a:defRPr>
            </a:pPr>
            <a:r>
              <a:rPr sz="1650" b="1">
                <a:solidFill>
                  <a:srgbClr val="00A17B"/>
                </a:solidFill>
              </a:rPr>
              <a:t>H0287</a:t>
            </a:r>
          </a:p>
        </p:txBody>
      </p:sp>
      <p:sp>
        <p:nvSpPr>
          <p:cNvPr id="23" name="">
            <a:extLst xmlns:a="http://schemas.openxmlformats.org/drawingml/2006/main">
              <a:ext uri="{FF2B5EF4-FFF2-40B4-BE49-F238E27FC236}">
                <a16:creationId xmlns:a16="http://schemas.microsoft.com/office/drawing/2014/main" id="{E2238E05-CE99-49A3-98A5-179BD5907A79}"/>
              </a:ext>
            </a:extLst>
          </p:cNvPr>
          <p:cNvSpPr>
            <a:spLocks xmlns:a="http://schemas.openxmlformats.org/drawingml/2006/main" noGrp="1"/>
          </p:cNvSpPr>
          <p:nvPr/>
        </p:nvSpPr>
        <p:spPr>
          <a:xfrm xmlns:a="http://schemas.openxmlformats.org/drawingml/2006/main">
            <a:off x="9391650" y="20002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050" b="1">
                <a:solidFill>
                  <a:srgbClr val="5E6768"/>
                </a:solidFill>
              </a:defRPr>
            </a:pPr>
            <a:r>
              <a:rPr sz="1050" b="1">
                <a:solidFill>
                  <a:srgbClr val="5E6768"/>
                </a:solidFill>
              </a:rPr>
              <a:t>spam / shallow rescue</a:t>
            </a:r>
          </a:p>
        </p:txBody>
      </p:sp>
      <p:sp>
        <p:nvSpPr>
          <p:cNvPr id="24" name="">
            <a:extLst xmlns:a="http://schemas.openxmlformats.org/drawingml/2006/main">
              <a:ext uri="{FF2B5EF4-FFF2-40B4-BE49-F238E27FC236}">
                <a16:creationId xmlns:a16="http://schemas.microsoft.com/office/drawing/2014/main" id="{A60EF339-7F26-4E3A-B41D-E274A0EF3892}"/>
              </a:ext>
            </a:extLst>
          </p:cNvPr>
          <p:cNvSpPr>
            <a:spLocks xmlns:a="http://schemas.openxmlformats.org/drawingml/2006/main" noGrp="1"/>
          </p:cNvSpPr>
          <p:nvPr/>
        </p:nvSpPr>
        <p:spPr>
          <a:xfrm xmlns:a="http://schemas.openxmlformats.org/drawingml/2006/main">
            <a:off x="8477250" y="2524125"/>
            <a:ext cx="29146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101010"/>
                </a:solidFill>
              </a:defRPr>
            </a:pPr>
            <a:r>
              <a:rPr sz="1350" b="0">
                <a:solidFill>
                  <a:srgbClr val="101010"/>
                </a:solidFill>
              </a:rPr>
              <a:t>A premium-rate adult-chat lure is recovered mainly from its phone number and price cue.</a:t>
            </a:r>
          </a:p>
        </p:txBody>
      </p:sp>
      <p:sp>
        <p:nvSpPr>
          <p:cNvPr id="25" name="">
            <a:extLst xmlns:a="http://schemas.openxmlformats.org/drawingml/2006/main">
              <a:ext uri="{FF2B5EF4-FFF2-40B4-BE49-F238E27FC236}">
                <a16:creationId xmlns:a16="http://schemas.microsoft.com/office/drawing/2014/main" id="{3D062D66-4FE9-435E-9340-A18478B28CB7}"/>
              </a:ext>
            </a:extLst>
          </p:cNvPr>
          <p:cNvSpPr>
            <a:spLocks xmlns:a="http://schemas.openxmlformats.org/drawingml/2006/main" noGrp="1"/>
          </p:cNvSpPr>
          <p:nvPr/>
        </p:nvSpPr>
        <p:spPr>
          <a:xfrm xmlns:a="http://schemas.openxmlformats.org/drawingml/2006/main">
            <a:off x="8477250" y="4000500"/>
            <a:ext cx="2914650" cy="19050"/>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4E16BDD-C1A0-454F-9523-5703B5A5A965}"/>
              </a:ext>
            </a:extLst>
          </p:cNvPr>
          <p:cNvSpPr>
            <a:spLocks xmlns:a="http://schemas.openxmlformats.org/drawingml/2006/main" noGrp="1"/>
          </p:cNvSpPr>
          <p:nvPr/>
        </p:nvSpPr>
        <p:spPr>
          <a:xfrm xmlns:a="http://schemas.openxmlformats.org/drawingml/2006/main">
            <a:off x="8477250" y="4210050"/>
            <a:ext cx="140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a:solidFill>
                  <a:srgbClr val="00A17B"/>
                </a:solidFill>
              </a:defRPr>
            </a:pPr>
            <a:r>
              <a:rPr sz="1275" b="1">
                <a:solidFill>
                  <a:srgbClr val="00A17B"/>
                </a:solidFill>
              </a:rPr>
              <a:t>Shallow  0.997</a:t>
            </a:r>
          </a:p>
        </p:txBody>
      </p:sp>
      <p:sp>
        <p:nvSpPr>
          <p:cNvPr id="27" name="">
            <a:extLst xmlns:a="http://schemas.openxmlformats.org/drawingml/2006/main">
              <a:ext uri="{FF2B5EF4-FFF2-40B4-BE49-F238E27FC236}">
                <a16:creationId xmlns:a16="http://schemas.microsoft.com/office/drawing/2014/main" id="{E0C9E78E-EF5B-4901-BCB3-62C73528721C}"/>
              </a:ext>
            </a:extLst>
          </p:cNvPr>
          <p:cNvSpPr>
            <a:spLocks xmlns:a="http://schemas.openxmlformats.org/drawingml/2006/main" noGrp="1"/>
          </p:cNvSpPr>
          <p:nvPr/>
        </p:nvSpPr>
        <p:spPr>
          <a:xfrm xmlns:a="http://schemas.openxmlformats.org/drawingml/2006/main">
            <a:off x="9867900" y="42100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275" b="1">
                <a:solidFill>
                  <a:srgbClr val="101010"/>
                </a:solidFill>
              </a:defRPr>
            </a:pPr>
            <a:r>
              <a:rPr sz="1275" b="1">
                <a:solidFill>
                  <a:srgbClr val="101010"/>
                </a:solidFill>
              </a:rPr>
              <a:t>Full text  0.305</a:t>
            </a:r>
          </a:p>
        </p:txBody>
      </p:sp>
      <p:sp>
        <p:nvSpPr>
          <p:cNvPr id="28" name="">
            <a:extLst xmlns:a="http://schemas.openxmlformats.org/drawingml/2006/main">
              <a:ext uri="{FF2B5EF4-FFF2-40B4-BE49-F238E27FC236}">
                <a16:creationId xmlns:a16="http://schemas.microsoft.com/office/drawing/2014/main" id="{3BD7E1D1-4E7C-4E4F-87E7-C5CF17ECA79E}"/>
              </a:ext>
            </a:extLst>
          </p:cNvPr>
          <p:cNvSpPr>
            <a:spLocks xmlns:a="http://schemas.openxmlformats.org/drawingml/2006/main" noGrp="1"/>
          </p:cNvSpPr>
          <p:nvPr/>
        </p:nvSpPr>
        <p:spPr>
          <a:xfrm xmlns:a="http://schemas.openxmlformats.org/drawingml/2006/main">
            <a:off x="1638300" y="5619750"/>
            <a:ext cx="891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004B50"/>
                </a:solidFill>
              </a:defRPr>
            </a:pPr>
            <a:r>
              <a:rPr sz="1575" b="1">
                <a:solidFill>
                  <a:srgbClr val="004B50"/>
                </a:solidFill>
              </a:rPr>
              <a:t>High average performance does not guarantee robustness when the cue distribution changes.</a:t>
            </a:r>
          </a:p>
        </p:txBody>
      </p:sp>
    </p:spTree>
    <p:extLst>
      <p:ext uri="{BB962C8B-B14F-4D97-AF65-F5344CB8AC3E}">
        <p14:creationId xmlns:p14="http://schemas.microsoft.com/office/powerpoint/2010/main" val="3161681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kicker-5">
            <a:extLst xmlns:a="http://schemas.openxmlformats.org/drawingml/2006/main">
              <a:ext uri="{FF2B5EF4-FFF2-40B4-BE49-F238E27FC236}">
                <a16:creationId xmlns:a16="http://schemas.microsoft.com/office/drawing/2014/main" id="{39211EC2-C54D-4837-A293-B7FEE55DD023}"/>
              </a:ext>
            </a:extLst>
          </p:cNvPr>
          <p:cNvSpPr>
            <a:spLocks xmlns:a="http://schemas.openxmlformats.org/drawingml/2006/main" noGrp="1"/>
          </p:cNvSpPr>
          <p:nvPr/>
        </p:nvSpPr>
        <p:spPr>
          <a:xfrm xmlns:a="http://schemas.openxmlformats.org/drawingml/2006/main">
            <a:off x="5334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DATA INTERVENTIONS / OUTCOME</a:t>
            </a:r>
          </a:p>
        </p:txBody>
      </p:sp>
      <p:sp>
        <p:nvSpPr>
          <p:cNvPr id="2" name="title-5">
            <a:extLst xmlns:a="http://schemas.openxmlformats.org/drawingml/2006/main">
              <a:ext uri="{FF2B5EF4-FFF2-40B4-BE49-F238E27FC236}">
                <a16:creationId xmlns:a16="http://schemas.microsoft.com/office/drawing/2014/main" id="{BD2CFC25-4AB8-4E4C-A70F-8FAE997C1C4F}"/>
              </a:ext>
            </a:extLst>
          </p:cNvPr>
          <p:cNvSpPr>
            <a:spLocks xmlns:a="http://schemas.openxmlformats.org/drawingml/2006/main" noGrp="1"/>
          </p:cNvSpPr>
          <p:nvPr/>
        </p:nvSpPr>
        <p:spPr>
          <a:xfrm xmlns:a="http://schemas.openxmlformats.org/drawingml/2006/main">
            <a:off x="533400" y="70485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101010"/>
                </a:solidFill>
              </a:defRPr>
            </a:pPr>
            <a:r>
              <a:rPr sz="2850" b="1">
                <a:solidFill>
                  <a:srgbClr val="101010"/>
                </a:solidFill>
              </a:rPr>
              <a:t>Interventions move the score in opposite directions</a:t>
            </a:r>
          </a:p>
        </p:txBody>
      </p:sp>
      <p:sp>
        <p:nvSpPr>
          <p:cNvPr id="3" name="">
            <a:extLst xmlns:a="http://schemas.openxmlformats.org/drawingml/2006/main">
              <a:ext uri="{FF2B5EF4-FFF2-40B4-BE49-F238E27FC236}">
                <a16:creationId xmlns:a16="http://schemas.microsoft.com/office/drawing/2014/main" id="{1F904383-056A-4862-A4AC-6DBDAD36FD8E}"/>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5E6768"/>
                </a:solidFill>
              </a:defRPr>
            </a:pPr>
            <a:r>
              <a:rPr sz="900" b="0">
                <a:solidFill>
                  <a:srgbClr val="5E6768"/>
                </a:solidFill>
              </a:rPr>
              <a:t>05</a:t>
            </a:r>
          </a:p>
        </p:txBody>
      </p:sp>
      <p:sp>
        <p:nvSpPr>
          <p:cNvPr id="4" name="">
            <a:extLst xmlns:a="http://schemas.openxmlformats.org/drawingml/2006/main">
              <a:ext uri="{FF2B5EF4-FFF2-40B4-BE49-F238E27FC236}">
                <a16:creationId xmlns:a16="http://schemas.microsoft.com/office/drawing/2014/main" id="{FCC744C9-0CB9-4CBE-9A3F-DDDADDE4F78C}"/>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9956C9-49B0-4C9E-B124-C91786187525}"/>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E67606-8471-4053-9F9B-660C1DB57ADA}"/>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graphicFrame>
        <p:nvGraphicFramePr>
          <p:cNvPr id="20" name="Chart"/>
          <p:cNvGraphicFramePr/>
          <p:nvPr/>
        </p:nvGraphicFramePr>
        <p:xfrm>
          <a:off xmlns:a="http://schemas.openxmlformats.org/drawingml/2006/main" x="685800" y="1571625"/>
          <a:ext xmlns:a="http://schemas.openxmlformats.org/drawingml/2006/main" cx="7810500" cy="4333875"/>
        </p:xfrm>
        <a:graphic xmlns:a="http://schemas.openxmlformats.org/drawingml/2006/main">
          <a:graphicData uri="http://schemas.openxmlformats.org/drawingml/2006/chart">
            <c:chart xmlns:r="http://schemas.openxmlformats.org/officeDocument/2006/relationships" xmlns:c="http://schemas.openxmlformats.org/drawingml/2006/chart" r:id="R659c4f32839a408f"/>
          </a:graphicData>
        </a:graphic>
      </p:graphicFrame>
      <p:sp>
        <p:nvSpPr>
          <p:cNvPr id="8" name="">
            <a:extLst xmlns:a="http://schemas.openxmlformats.org/drawingml/2006/main">
              <a:ext uri="{FF2B5EF4-FFF2-40B4-BE49-F238E27FC236}">
                <a16:creationId xmlns:a16="http://schemas.microsoft.com/office/drawing/2014/main" id="{ACF176E1-CE5F-415D-8594-075D8AC64CDD}"/>
              </a:ext>
            </a:extLst>
          </p:cNvPr>
          <p:cNvSpPr>
            <a:spLocks xmlns:a="http://schemas.openxmlformats.org/drawingml/2006/main" noGrp="1"/>
          </p:cNvSpPr>
          <p:nvPr/>
        </p:nvSpPr>
        <p:spPr>
          <a:xfrm xmlns:a="http://schemas.openxmlformats.org/drawingml/2006/main">
            <a:off x="9048750" y="2047875"/>
            <a:ext cx="209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a:solidFill>
                  <a:srgbClr val="004B50"/>
                </a:solidFill>
              </a:defRPr>
            </a:pPr>
            <a:r>
              <a:rPr sz="3600" b="1">
                <a:solidFill>
                  <a:srgbClr val="004B50"/>
                </a:solidFill>
              </a:rPr>
              <a:t>63</a:t>
            </a:r>
          </a:p>
        </p:txBody>
      </p:sp>
      <p:sp>
        <p:nvSpPr>
          <p:cNvPr id="9" name="">
            <a:extLst xmlns:a="http://schemas.openxmlformats.org/drawingml/2006/main">
              <a:ext uri="{FF2B5EF4-FFF2-40B4-BE49-F238E27FC236}">
                <a16:creationId xmlns:a16="http://schemas.microsoft.com/office/drawing/2014/main" id="{BD23C6CD-21EA-4CD5-96EA-803ACEF7DDEA}"/>
              </a:ext>
            </a:extLst>
          </p:cNvPr>
          <p:cNvSpPr>
            <a:spLocks xmlns:a="http://schemas.openxmlformats.org/drawingml/2006/main" noGrp="1"/>
          </p:cNvSpPr>
          <p:nvPr/>
        </p:nvSpPr>
        <p:spPr>
          <a:xfrm xmlns:a="http://schemas.openxmlformats.org/drawingml/2006/main">
            <a:off x="8858250" y="2714625"/>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5E6768"/>
                </a:solidFill>
              </a:defRPr>
            </a:pPr>
            <a:r>
              <a:rPr sz="1350" b="0">
                <a:solidFill>
                  <a:srgbClr val="5E6768"/>
                </a:solidFill>
              </a:rPr>
              <a:t>leaked held-out rows removed</a:t>
            </a:r>
          </a:p>
          <a:p xmlns:a="http://schemas.openxmlformats.org/drawingml/2006/main">
            <a:pPr algn="ctr">
              <a:buNone/>
              <a:defRPr sz="1350" b="0">
                <a:solidFill>
                  <a:srgbClr val="5E6768"/>
                </a:solidFill>
              </a:defRPr>
            </a:pPr>
            <a:r>
              <a:rPr sz="1350" b="0">
                <a:solidFill>
                  <a:srgbClr val="5E6768"/>
                </a:solidFill>
              </a:rPr>
              <a:t>from the clean evaluation view</a:t>
            </a:r>
          </a:p>
        </p:txBody>
      </p:sp>
      <p:sp>
        <p:nvSpPr>
          <p:cNvPr id="10" name="">
            <a:extLst xmlns:a="http://schemas.openxmlformats.org/drawingml/2006/main">
              <a:ext uri="{FF2B5EF4-FFF2-40B4-BE49-F238E27FC236}">
                <a16:creationId xmlns:a16="http://schemas.microsoft.com/office/drawing/2014/main" id="{6ED31577-BE85-43DD-83CC-A39FCF0D4D32}"/>
              </a:ext>
            </a:extLst>
          </p:cNvPr>
          <p:cNvSpPr>
            <a:spLocks xmlns:a="http://schemas.openxmlformats.org/drawingml/2006/main" noGrp="1"/>
          </p:cNvSpPr>
          <p:nvPr/>
        </p:nvSpPr>
        <p:spPr>
          <a:xfrm xmlns:a="http://schemas.openxmlformats.org/drawingml/2006/main">
            <a:off x="9001125" y="400050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850" b="1">
                <a:solidFill>
                  <a:srgbClr val="E87843"/>
                </a:solidFill>
              </a:defRPr>
            </a:pPr>
            <a:r>
              <a:rPr sz="2850" b="1">
                <a:solidFill>
                  <a:srgbClr val="E87843"/>
                </a:solidFill>
              </a:rPr>
              <a:t>-2.56 pt</a:t>
            </a:r>
          </a:p>
        </p:txBody>
      </p:sp>
      <p:sp>
        <p:nvSpPr>
          <p:cNvPr id="11" name="">
            <a:extLst xmlns:a="http://schemas.openxmlformats.org/drawingml/2006/main">
              <a:ext uri="{FF2B5EF4-FFF2-40B4-BE49-F238E27FC236}">
                <a16:creationId xmlns:a16="http://schemas.microsoft.com/office/drawing/2014/main" id="{1F5B035F-45EC-4FE3-8FF5-35561D8BD8AF}"/>
              </a:ext>
            </a:extLst>
          </p:cNvPr>
          <p:cNvSpPr>
            <a:spLocks xmlns:a="http://schemas.openxmlformats.org/drawingml/2006/main" noGrp="1"/>
          </p:cNvSpPr>
          <p:nvPr/>
        </p:nvSpPr>
        <p:spPr>
          <a:xfrm xmlns:a="http://schemas.openxmlformats.org/drawingml/2006/main">
            <a:off x="9001125" y="45720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5E6768"/>
                </a:solidFill>
              </a:defRPr>
            </a:pPr>
            <a:r>
              <a:rPr sz="1350" b="0">
                <a:solidFill>
                  <a:srgbClr val="5E6768"/>
                </a:solidFill>
              </a:rPr>
              <a:t>capped combined-view spam F1</a:t>
            </a:r>
          </a:p>
        </p:txBody>
      </p:sp>
    </p:spTree>
    <p:extLst>
      <p:ext uri="{BB962C8B-B14F-4D97-AF65-F5344CB8AC3E}">
        <p14:creationId xmlns:p14="http://schemas.microsoft.com/office/powerpoint/2010/main" val="1462633034"/>
      </p:ext>
    </p:extLst>
  </p:cSld>
</p:sld>
</file>

<file path=ppt/slides/slide6.xml><?xml version="1.0" encoding="utf-8"?>
<p:sld xmlns:p="http://schemas.openxmlformats.org/presentationml/2006/main">
  <p:cSld>
    <p:bg>
      <p:bgPr>
        <a:solidFill xmlns:a="http://schemas.openxmlformats.org/drawingml/2006/main">
          <a:srgbClr val="004B5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68B0EE9-56D5-4CB4-9F7D-FDB9E4B7FF95}"/>
              </a:ext>
            </a:extLst>
          </p:cNvPr>
          <p:cNvSpPr>
            <a:spLocks xmlns:a="http://schemas.openxmlformats.org/drawingml/2006/main" noGrp="1"/>
          </p:cNvSpPr>
          <p:nvPr/>
        </p:nvSpPr>
        <p:spPr>
          <a:xfrm xmlns:a="http://schemas.openxmlformats.org/drawingml/2006/main">
            <a:off x="0" y="4476750"/>
            <a:ext cx="2000250" cy="1733550"/>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4E00D9-0ACE-497F-8E43-C00B707B5907}"/>
              </a:ext>
            </a:extLst>
          </p:cNvPr>
          <p:cNvSpPr>
            <a:spLocks xmlns:a="http://schemas.openxmlformats.org/drawingml/2006/main" noGrp="1"/>
          </p:cNvSpPr>
          <p:nvPr/>
        </p:nvSpPr>
        <p:spPr>
          <a:xfrm xmlns:a="http://schemas.openxmlformats.org/drawingml/2006/main">
            <a:off x="990600" y="5429250"/>
            <a:ext cx="1524000" cy="13239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DB47C4-9980-4AE1-8FFE-17B92CED6E6B}"/>
              </a:ext>
            </a:extLst>
          </p:cNvPr>
          <p:cNvSpPr>
            <a:spLocks xmlns:a="http://schemas.openxmlformats.org/drawingml/2006/main" noGrp="1"/>
          </p:cNvSpPr>
          <p:nvPr/>
        </p:nvSpPr>
        <p:spPr>
          <a:xfrm xmlns:a="http://schemas.openxmlformats.org/drawingml/2006/main">
            <a:off x="609600" y="4572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A3E36A"/>
                </a:solidFill>
              </a:defRPr>
            </a:pPr>
            <a:r>
              <a:rPr sz="1050" b="1">
                <a:solidFill>
                  <a:srgbClr val="A3E36A"/>
                </a:solidFill>
              </a:rPr>
              <a:t>DATA INTERVENTIONS / IMPLICATION</a:t>
            </a:r>
          </a:p>
        </p:txBody>
      </p:sp>
      <p:sp>
        <p:nvSpPr>
          <p:cNvPr id="4" name="">
            <a:extLst xmlns:a="http://schemas.openxmlformats.org/drawingml/2006/main">
              <a:ext uri="{FF2B5EF4-FFF2-40B4-BE49-F238E27FC236}">
                <a16:creationId xmlns:a16="http://schemas.microsoft.com/office/drawing/2014/main" id="{68BFB639-23EC-40BA-B572-1276D3A9C7E1}"/>
              </a:ext>
            </a:extLst>
          </p:cNvPr>
          <p:cNvSpPr>
            <a:spLocks xmlns:a="http://schemas.openxmlformats.org/drawingml/2006/main" noGrp="1"/>
          </p:cNvSpPr>
          <p:nvPr/>
        </p:nvSpPr>
        <p:spPr>
          <a:xfrm xmlns:a="http://schemas.openxmlformats.org/drawingml/2006/main">
            <a:off x="609600" y="990600"/>
            <a:ext cx="876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75" b="1">
                <a:solidFill>
                  <a:srgbClr val="FFFFFF"/>
                </a:solidFill>
              </a:defRPr>
            </a:pPr>
            <a:r>
              <a:rPr sz="3375" b="1">
                <a:solidFill>
                  <a:srgbClr val="FFFFFF"/>
                </a:solidFill>
              </a:rPr>
              <a:t>Interventions reveal how the benchmark is distorted.</a:t>
            </a:r>
          </a:p>
        </p:txBody>
      </p:sp>
      <p:sp>
        <p:nvSpPr>
          <p:cNvPr id="5" name="">
            <a:extLst xmlns:a="http://schemas.openxmlformats.org/drawingml/2006/main">
              <a:ext uri="{FF2B5EF4-FFF2-40B4-BE49-F238E27FC236}">
                <a16:creationId xmlns:a16="http://schemas.microsoft.com/office/drawing/2014/main" id="{2DDFCBF3-8BC1-4971-B460-AA7C6EB4FB28}"/>
              </a:ext>
            </a:extLst>
          </p:cNvPr>
          <p:cNvSpPr>
            <a:spLocks xmlns:a="http://schemas.openxmlformats.org/drawingml/2006/main" noGrp="1"/>
          </p:cNvSpPr>
          <p:nvPr/>
        </p:nvSpPr>
        <p:spPr>
          <a:xfrm xmlns:a="http://schemas.openxmlformats.org/drawingml/2006/main">
            <a:off x="3162300" y="31908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FFFFF"/>
                </a:solidFill>
              </a:defRPr>
            </a:pPr>
            <a:r>
              <a:rPr sz="2250" b="1">
                <a:solidFill>
                  <a:srgbClr val="FFFFFF"/>
                </a:solidFill>
              </a:rPr>
              <a:t>99.10 -&gt; 99.37</a:t>
            </a:r>
          </a:p>
        </p:txBody>
      </p:sp>
      <p:sp>
        <p:nvSpPr>
          <p:cNvPr id="6" name="">
            <a:extLst xmlns:a="http://schemas.openxmlformats.org/drawingml/2006/main">
              <a:ext uri="{FF2B5EF4-FFF2-40B4-BE49-F238E27FC236}">
                <a16:creationId xmlns:a16="http://schemas.microsoft.com/office/drawing/2014/main" id="{406B4865-6A03-42C6-8D55-DC9EC4E3E77E}"/>
              </a:ext>
            </a:extLst>
          </p:cNvPr>
          <p:cNvSpPr>
            <a:spLocks xmlns:a="http://schemas.openxmlformats.org/drawingml/2006/main" noGrp="1"/>
          </p:cNvSpPr>
          <p:nvPr/>
        </p:nvSpPr>
        <p:spPr>
          <a:xfrm xmlns:a="http://schemas.openxmlformats.org/drawingml/2006/main">
            <a:off x="3162300" y="382905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D7E7E3"/>
                </a:solidFill>
              </a:defRPr>
            </a:pPr>
            <a:r>
              <a:rPr sz="1350" b="0">
                <a:solidFill>
                  <a:srgbClr val="D7E7E3"/>
                </a:solidFill>
              </a:rPr>
              <a:t>Adjudication-aware accuracy; partly circular</a:t>
            </a:r>
          </a:p>
        </p:txBody>
      </p:sp>
      <p:sp>
        <p:nvSpPr>
          <p:cNvPr id="7" name="">
            <a:extLst xmlns:a="http://schemas.openxmlformats.org/drawingml/2006/main">
              <a:ext uri="{FF2B5EF4-FFF2-40B4-BE49-F238E27FC236}">
                <a16:creationId xmlns:a16="http://schemas.microsoft.com/office/drawing/2014/main" id="{56FF2C9C-C688-4D09-8850-10052603B4AA}"/>
              </a:ext>
            </a:extLst>
          </p:cNvPr>
          <p:cNvSpPr>
            <a:spLocks xmlns:a="http://schemas.openxmlformats.org/drawingml/2006/main" noGrp="1"/>
          </p:cNvSpPr>
          <p:nvPr/>
        </p:nvSpPr>
        <p:spPr>
          <a:xfrm xmlns:a="http://schemas.openxmlformats.org/drawingml/2006/main">
            <a:off x="5943600" y="31908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A3E36A"/>
                </a:solidFill>
              </a:defRPr>
            </a:pPr>
            <a:r>
              <a:rPr sz="2250" b="1">
                <a:solidFill>
                  <a:srgbClr val="A3E36A"/>
                </a:solidFill>
              </a:rPr>
              <a:t>96.55 -&gt; 93.99</a:t>
            </a:r>
          </a:p>
        </p:txBody>
      </p:sp>
      <p:sp>
        <p:nvSpPr>
          <p:cNvPr id="8" name="">
            <a:extLst xmlns:a="http://schemas.openxmlformats.org/drawingml/2006/main">
              <a:ext uri="{FF2B5EF4-FFF2-40B4-BE49-F238E27FC236}">
                <a16:creationId xmlns:a16="http://schemas.microsoft.com/office/drawing/2014/main" id="{B7EE1C5D-EB99-4D96-86F5-6C05E7681171}"/>
              </a:ext>
            </a:extLst>
          </p:cNvPr>
          <p:cNvSpPr>
            <a:spLocks xmlns:a="http://schemas.openxmlformats.org/drawingml/2006/main" noGrp="1"/>
          </p:cNvSpPr>
          <p:nvPr/>
        </p:nvSpPr>
        <p:spPr>
          <a:xfrm xmlns:a="http://schemas.openxmlformats.org/drawingml/2006/main">
            <a:off x="5943600" y="382905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D7E7E3"/>
                </a:solidFill>
              </a:defRPr>
            </a:pPr>
            <a:r>
              <a:rPr sz="1350" b="0">
                <a:solidFill>
                  <a:srgbClr val="D7E7E3"/>
                </a:solidFill>
              </a:rPr>
              <a:t>Spam F1 after capped combined view</a:t>
            </a:r>
          </a:p>
        </p:txBody>
      </p:sp>
      <p:sp>
        <p:nvSpPr>
          <p:cNvPr id="9" name="">
            <a:extLst xmlns:a="http://schemas.openxmlformats.org/drawingml/2006/main">
              <a:ext uri="{FF2B5EF4-FFF2-40B4-BE49-F238E27FC236}">
                <a16:creationId xmlns:a16="http://schemas.microsoft.com/office/drawing/2014/main" id="{E2DA7809-8DE5-4CCD-9B79-7DBEE2DA066B}"/>
              </a:ext>
            </a:extLst>
          </p:cNvPr>
          <p:cNvSpPr>
            <a:spLocks xmlns:a="http://schemas.openxmlformats.org/drawingml/2006/main" noGrp="1"/>
          </p:cNvSpPr>
          <p:nvPr/>
        </p:nvSpPr>
        <p:spPr>
          <a:xfrm xmlns:a="http://schemas.openxmlformats.org/drawingml/2006/main">
            <a:off x="8724900" y="31908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FFFFF"/>
                </a:solidFill>
              </a:defRPr>
            </a:pPr>
            <a:r>
              <a:rPr sz="2250" b="1">
                <a:solidFill>
                  <a:srgbClr val="FFFFFF"/>
                </a:solidFill>
              </a:rPr>
              <a:t>93.96 -&gt; 90.91</a:t>
            </a:r>
          </a:p>
        </p:txBody>
      </p:sp>
      <p:sp>
        <p:nvSpPr>
          <p:cNvPr id="10" name="">
            <a:extLst xmlns:a="http://schemas.openxmlformats.org/drawingml/2006/main">
              <a:ext uri="{FF2B5EF4-FFF2-40B4-BE49-F238E27FC236}">
                <a16:creationId xmlns:a16="http://schemas.microsoft.com/office/drawing/2014/main" id="{3C896CC3-ACCF-4782-88B3-C99AEA64C6A6}"/>
              </a:ext>
            </a:extLst>
          </p:cNvPr>
          <p:cNvSpPr>
            <a:spLocks xmlns:a="http://schemas.openxmlformats.org/drawingml/2006/main" noGrp="1"/>
          </p:cNvSpPr>
          <p:nvPr/>
        </p:nvSpPr>
        <p:spPr>
          <a:xfrm xmlns:a="http://schemas.openxmlformats.org/drawingml/2006/main">
            <a:off x="8724900" y="382905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D7E7E3"/>
                </a:solidFill>
              </a:defRPr>
            </a:pPr>
            <a:r>
              <a:rPr sz="1350" b="0">
                <a:solidFill>
                  <a:srgbClr val="D7E7E3"/>
                </a:solidFill>
              </a:rPr>
              <a:t>Spam recall after leakage-aware evaluation</a:t>
            </a:r>
          </a:p>
        </p:txBody>
      </p:sp>
      <p:sp>
        <p:nvSpPr>
          <p:cNvPr id="11" name="">
            <a:extLst xmlns:a="http://schemas.openxmlformats.org/drawingml/2006/main">
              <a:ext uri="{FF2B5EF4-FFF2-40B4-BE49-F238E27FC236}">
                <a16:creationId xmlns:a16="http://schemas.microsoft.com/office/drawing/2014/main" id="{32244214-7768-4CAC-8939-0FC5AFDE39CC}"/>
              </a:ext>
            </a:extLst>
          </p:cNvPr>
          <p:cNvSpPr>
            <a:spLocks xmlns:a="http://schemas.openxmlformats.org/drawingml/2006/main" noGrp="1"/>
          </p:cNvSpPr>
          <p:nvPr/>
        </p:nvSpPr>
        <p:spPr>
          <a:xfrm xmlns:a="http://schemas.openxmlformats.org/drawingml/2006/main">
            <a:off x="2647950" y="5524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A3E36A"/>
                </a:solidFill>
              </a:defRPr>
            </a:pPr>
            <a:r>
              <a:rPr sz="1725" b="1">
                <a:solidFill>
                  <a:srgbClr val="A3E36A"/>
                </a:solidFill>
              </a:rPr>
              <a:t>The intervention goal is a more credible generalization claim - not a higher benchmark number.</a:t>
            </a:r>
          </a:p>
        </p:txBody>
      </p:sp>
      <p:sp>
        <p:nvSpPr>
          <p:cNvPr id="12" name="">
            <a:extLst xmlns:a="http://schemas.openxmlformats.org/drawingml/2006/main">
              <a:ext uri="{FF2B5EF4-FFF2-40B4-BE49-F238E27FC236}">
                <a16:creationId xmlns:a16="http://schemas.microsoft.com/office/drawing/2014/main" id="{52D7CA18-61AC-48BA-A42C-EA3190A4118D}"/>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B6C9C5"/>
                </a:solidFill>
              </a:defRPr>
            </a:pPr>
            <a:r>
              <a:rPr sz="900" b="0">
                <a:solidFill>
                  <a:srgbClr val="B6C9C5"/>
                </a:solidFill>
              </a:rPr>
              <a:t>06</a:t>
            </a:r>
          </a:p>
        </p:txBody>
      </p:sp>
    </p:spTree>
    <p:extLst>
      <p:ext uri="{BB962C8B-B14F-4D97-AF65-F5344CB8AC3E}">
        <p14:creationId xmlns:p14="http://schemas.microsoft.com/office/powerpoint/2010/main" val="1918464110"/>
      </p:ext>
    </p:extLst>
  </p:cSld>
</p:sld>
</file>

<file path=ppt/slides/slide7.xml><?xml version="1.0" encoding="utf-8"?>
<p:sld xmlns:p="http://schemas.openxmlformats.org/presentationml/2006/main">
  <p:cSld>
    <p:bg>
      <p:bgPr>
        <a:solidFill xmlns:a="http://schemas.openxmlformats.org/drawingml/2006/main">
          <a:srgbClr val="004B5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68B0EE9-56D5-4CB4-9F7D-FDB9E4B7FF95}"/>
              </a:ext>
            </a:extLst>
          </p:cNvPr>
          <p:cNvSpPr>
            <a:spLocks xmlns:a="http://schemas.openxmlformats.org/drawingml/2006/main" noGrp="1"/>
          </p:cNvSpPr>
          <p:nvPr/>
        </p:nvSpPr>
        <p:spPr>
          <a:xfrm xmlns:a="http://schemas.openxmlformats.org/drawingml/2006/main">
            <a:off x="0" y="4476750"/>
            <a:ext cx="2000250" cy="1733550"/>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4E00D9-0ACE-497F-8E43-C00B707B5907}"/>
              </a:ext>
            </a:extLst>
          </p:cNvPr>
          <p:cNvSpPr>
            <a:spLocks xmlns:a="http://schemas.openxmlformats.org/drawingml/2006/main" noGrp="1"/>
          </p:cNvSpPr>
          <p:nvPr/>
        </p:nvSpPr>
        <p:spPr>
          <a:xfrm xmlns:a="http://schemas.openxmlformats.org/drawingml/2006/main">
            <a:off x="990600" y="5429250"/>
            <a:ext cx="1524000" cy="13239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DB47C4-9980-4AE1-8FFE-17B92CED6E6B}"/>
              </a:ext>
            </a:extLst>
          </p:cNvPr>
          <p:cNvSpPr>
            <a:spLocks xmlns:a="http://schemas.openxmlformats.org/drawingml/2006/main" noGrp="1"/>
          </p:cNvSpPr>
          <p:nvPr/>
        </p:nvSpPr>
        <p:spPr>
          <a:xfrm xmlns:a="http://schemas.openxmlformats.org/drawingml/2006/main">
            <a:off x="609600" y="4572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A3E36A"/>
                </a:solidFill>
              </a:defRPr>
            </a:pPr>
            <a:r>
              <a:rPr sz="1050" b="1">
                <a:solidFill>
                  <a:srgbClr val="A3E36A"/>
                </a:solidFill>
              </a:rPr>
              <a:t>PROJECT SUMMARY / SYNTHESIS</a:t>
            </a:r>
          </a:p>
        </p:txBody>
      </p:sp>
      <p:sp>
        <p:nvSpPr>
          <p:cNvPr id="4" name="">
            <a:extLst xmlns:a="http://schemas.openxmlformats.org/drawingml/2006/main">
              <a:ext uri="{FF2B5EF4-FFF2-40B4-BE49-F238E27FC236}">
                <a16:creationId xmlns:a16="http://schemas.microsoft.com/office/drawing/2014/main" id="{68BFB639-23EC-40BA-B572-1276D3A9C7E1}"/>
              </a:ext>
            </a:extLst>
          </p:cNvPr>
          <p:cNvSpPr>
            <a:spLocks xmlns:a="http://schemas.openxmlformats.org/drawingml/2006/main" noGrp="1"/>
          </p:cNvSpPr>
          <p:nvPr/>
        </p:nvSpPr>
        <p:spPr>
          <a:xfrm xmlns:a="http://schemas.openxmlformats.org/drawingml/2006/main">
            <a:off x="609600" y="990600"/>
            <a:ext cx="876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75" b="1">
                <a:solidFill>
                  <a:srgbClr val="FFFFFF"/>
                </a:solidFill>
              </a:defRPr>
            </a:pPr>
            <a:r>
              <a:rPr sz="3375" b="1">
                <a:solidFill>
                  <a:srgbClr val="FFFFFF"/>
                </a:solidFill>
              </a:rPr>
              <a:t>99.10% is strong - but not a clean generalization claim.</a:t>
            </a:r>
          </a:p>
        </p:txBody>
      </p:sp>
      <p:sp>
        <p:nvSpPr>
          <p:cNvPr id="5" name="">
            <a:extLst xmlns:a="http://schemas.openxmlformats.org/drawingml/2006/main">
              <a:ext uri="{FF2B5EF4-FFF2-40B4-BE49-F238E27FC236}">
                <a16:creationId xmlns:a16="http://schemas.microsoft.com/office/drawing/2014/main" id="{2DDFCBF3-8BC1-4971-B460-AA7C6EB4FB28}"/>
              </a:ext>
            </a:extLst>
          </p:cNvPr>
          <p:cNvSpPr>
            <a:spLocks xmlns:a="http://schemas.openxmlformats.org/drawingml/2006/main" noGrp="1"/>
          </p:cNvSpPr>
          <p:nvPr/>
        </p:nvSpPr>
        <p:spPr>
          <a:xfrm xmlns:a="http://schemas.openxmlformats.org/drawingml/2006/main">
            <a:off x="3162300" y="31908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FFFFF"/>
                </a:solidFill>
              </a:defRPr>
            </a:pPr>
            <a:r>
              <a:rPr sz="2250" b="1">
                <a:solidFill>
                  <a:srgbClr val="FFFFFF"/>
                </a:solidFill>
              </a:rPr>
              <a:t>63</a:t>
            </a:r>
          </a:p>
        </p:txBody>
      </p:sp>
      <p:sp>
        <p:nvSpPr>
          <p:cNvPr id="6" name="">
            <a:extLst xmlns:a="http://schemas.openxmlformats.org/drawingml/2006/main">
              <a:ext uri="{FF2B5EF4-FFF2-40B4-BE49-F238E27FC236}">
                <a16:creationId xmlns:a16="http://schemas.microsoft.com/office/drawing/2014/main" id="{406B4865-6A03-42C6-8D55-DC9EC4E3E77E}"/>
              </a:ext>
            </a:extLst>
          </p:cNvPr>
          <p:cNvSpPr>
            <a:spLocks xmlns:a="http://schemas.openxmlformats.org/drawingml/2006/main" noGrp="1"/>
          </p:cNvSpPr>
          <p:nvPr/>
        </p:nvSpPr>
        <p:spPr>
          <a:xfrm xmlns:a="http://schemas.openxmlformats.org/drawingml/2006/main">
            <a:off x="3162300" y="382905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D7E7E3"/>
                </a:solidFill>
              </a:defRPr>
            </a:pPr>
            <a:r>
              <a:rPr sz="1350" b="0">
                <a:solidFill>
                  <a:srgbClr val="D7E7E3"/>
                </a:solidFill>
              </a:rPr>
              <a:t>held-out rows recoverable from training</a:t>
            </a:r>
          </a:p>
        </p:txBody>
      </p:sp>
      <p:sp>
        <p:nvSpPr>
          <p:cNvPr id="7" name="">
            <a:extLst xmlns:a="http://schemas.openxmlformats.org/drawingml/2006/main">
              <a:ext uri="{FF2B5EF4-FFF2-40B4-BE49-F238E27FC236}">
                <a16:creationId xmlns:a16="http://schemas.microsoft.com/office/drawing/2014/main" id="{56FF2C9C-C688-4D09-8850-10052603B4AA}"/>
              </a:ext>
            </a:extLst>
          </p:cNvPr>
          <p:cNvSpPr>
            <a:spLocks xmlns:a="http://schemas.openxmlformats.org/drawingml/2006/main" noGrp="1"/>
          </p:cNvSpPr>
          <p:nvPr/>
        </p:nvSpPr>
        <p:spPr>
          <a:xfrm xmlns:a="http://schemas.openxmlformats.org/drawingml/2006/main">
            <a:off x="5943600" y="31908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A3E36A"/>
                </a:solidFill>
              </a:defRPr>
            </a:pPr>
            <a:r>
              <a:rPr sz="2250" b="1">
                <a:solidFill>
                  <a:srgbClr val="A3E36A"/>
                </a:solidFill>
              </a:rPr>
              <a:t>98.11%</a:t>
            </a:r>
          </a:p>
        </p:txBody>
      </p:sp>
      <p:sp>
        <p:nvSpPr>
          <p:cNvPr id="8" name="">
            <a:extLst xmlns:a="http://schemas.openxmlformats.org/drawingml/2006/main">
              <a:ext uri="{FF2B5EF4-FFF2-40B4-BE49-F238E27FC236}">
                <a16:creationId xmlns:a16="http://schemas.microsoft.com/office/drawing/2014/main" id="{B7EE1C5D-EB99-4D96-86F5-6C05E7681171}"/>
              </a:ext>
            </a:extLst>
          </p:cNvPr>
          <p:cNvSpPr>
            <a:spLocks xmlns:a="http://schemas.openxmlformats.org/drawingml/2006/main" noGrp="1"/>
          </p:cNvSpPr>
          <p:nvPr/>
        </p:nvSpPr>
        <p:spPr>
          <a:xfrm xmlns:a="http://schemas.openxmlformats.org/drawingml/2006/main">
            <a:off x="5943600" y="382905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D7E7E3"/>
                </a:solidFill>
              </a:defRPr>
            </a:pPr>
            <a:r>
              <a:rPr sz="1350" b="0">
                <a:solidFill>
                  <a:srgbClr val="D7E7E3"/>
                </a:solidFill>
              </a:rPr>
              <a:t>accuracy from contact + promotion cues</a:t>
            </a:r>
          </a:p>
        </p:txBody>
      </p:sp>
      <p:sp>
        <p:nvSpPr>
          <p:cNvPr id="9" name="">
            <a:extLst xmlns:a="http://schemas.openxmlformats.org/drawingml/2006/main">
              <a:ext uri="{FF2B5EF4-FFF2-40B4-BE49-F238E27FC236}">
                <a16:creationId xmlns:a16="http://schemas.microsoft.com/office/drawing/2014/main" id="{E2DA7809-8DE5-4CCD-9B79-7DBEE2DA066B}"/>
              </a:ext>
            </a:extLst>
          </p:cNvPr>
          <p:cNvSpPr>
            <a:spLocks xmlns:a="http://schemas.openxmlformats.org/drawingml/2006/main" noGrp="1"/>
          </p:cNvSpPr>
          <p:nvPr/>
        </p:nvSpPr>
        <p:spPr>
          <a:xfrm xmlns:a="http://schemas.openxmlformats.org/drawingml/2006/main">
            <a:off x="8724900" y="3190875"/>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FFFFF"/>
                </a:solidFill>
              </a:defRPr>
            </a:pPr>
            <a:r>
              <a:rPr sz="2250" b="1">
                <a:solidFill>
                  <a:srgbClr val="FFFFFF"/>
                </a:solidFill>
              </a:rPr>
              <a:t>3 / 10</a:t>
            </a:r>
          </a:p>
        </p:txBody>
      </p:sp>
      <p:sp>
        <p:nvSpPr>
          <p:cNvPr id="10" name="">
            <a:extLst xmlns:a="http://schemas.openxmlformats.org/drawingml/2006/main">
              <a:ext uri="{FF2B5EF4-FFF2-40B4-BE49-F238E27FC236}">
                <a16:creationId xmlns:a16="http://schemas.microsoft.com/office/drawing/2014/main" id="{3C896CC3-ACCF-4782-88B3-C99AEA64C6A6}"/>
              </a:ext>
            </a:extLst>
          </p:cNvPr>
          <p:cNvSpPr>
            <a:spLocks xmlns:a="http://schemas.openxmlformats.org/drawingml/2006/main" noGrp="1"/>
          </p:cNvSpPr>
          <p:nvPr/>
        </p:nvSpPr>
        <p:spPr>
          <a:xfrm xmlns:a="http://schemas.openxmlformats.org/drawingml/2006/main">
            <a:off x="8724900" y="382905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0">
                <a:solidFill>
                  <a:srgbClr val="D7E7E3"/>
                </a:solidFill>
              </a:defRPr>
            </a:pPr>
            <a:r>
              <a:rPr sz="1350" b="0">
                <a:solidFill>
                  <a:srgbClr val="D7E7E3"/>
                </a:solidFill>
              </a:rPr>
              <a:t>baseline errors tied to label or policy issues</a:t>
            </a:r>
          </a:p>
        </p:txBody>
      </p:sp>
      <p:sp>
        <p:nvSpPr>
          <p:cNvPr id="11" name="">
            <a:extLst xmlns:a="http://schemas.openxmlformats.org/drawingml/2006/main">
              <a:ext uri="{FF2B5EF4-FFF2-40B4-BE49-F238E27FC236}">
                <a16:creationId xmlns:a16="http://schemas.microsoft.com/office/drawing/2014/main" id="{32244214-7768-4CAC-8939-0FC5AFDE39CC}"/>
              </a:ext>
            </a:extLst>
          </p:cNvPr>
          <p:cNvSpPr>
            <a:spLocks xmlns:a="http://schemas.openxmlformats.org/drawingml/2006/main" noGrp="1"/>
          </p:cNvSpPr>
          <p:nvPr/>
        </p:nvSpPr>
        <p:spPr>
          <a:xfrm xmlns:a="http://schemas.openxmlformats.org/drawingml/2006/main">
            <a:off x="2647950" y="55245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A3E36A"/>
                </a:solidFill>
              </a:defRPr>
            </a:pPr>
            <a:r>
              <a:rPr sz="1725" b="1">
                <a:solidFill>
                  <a:srgbClr val="A3E36A"/>
                </a:solidFill>
              </a:rPr>
              <a:t>The model is strong on this split; the audit qualifies what that strength means.</a:t>
            </a:r>
          </a:p>
        </p:txBody>
      </p:sp>
      <p:sp>
        <p:nvSpPr>
          <p:cNvPr id="12" name="">
            <a:extLst xmlns:a="http://schemas.openxmlformats.org/drawingml/2006/main">
              <a:ext uri="{FF2B5EF4-FFF2-40B4-BE49-F238E27FC236}">
                <a16:creationId xmlns:a16="http://schemas.microsoft.com/office/drawing/2014/main" id="{52D7CA18-61AC-48BA-A42C-EA3190A4118D}"/>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B6C9C5"/>
                </a:solidFill>
              </a:defRPr>
            </a:pPr>
            <a:r>
              <a:rPr sz="900" b="0">
                <a:solidFill>
                  <a:srgbClr val="B6C9C5"/>
                </a:solidFill>
              </a:rPr>
              <a:t>07</a:t>
            </a:r>
          </a:p>
        </p:txBody>
      </p:sp>
    </p:spTree>
    <p:extLst>
      <p:ext uri="{BB962C8B-B14F-4D97-AF65-F5344CB8AC3E}">
        <p14:creationId xmlns:p14="http://schemas.microsoft.com/office/powerpoint/2010/main" val="19184641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2">
            <a:extLst xmlns:a="http://schemas.openxmlformats.org/drawingml/2006/main">
              <a:ext uri="{FF2B5EF4-FFF2-40B4-BE49-F238E27FC236}">
                <a16:creationId xmlns:a16="http://schemas.microsoft.com/office/drawing/2014/main" id="{EC65BD0B-CDC6-4AFE-A59C-C6536C1DF52A}"/>
              </a:ext>
            </a:extLst>
          </p:cNvPr>
          <p:cNvSpPr>
            <a:spLocks xmlns:a="http://schemas.openxmlformats.org/drawingml/2006/main" noGrp="1"/>
          </p:cNvSpPr>
          <p:nvPr/>
        </p:nvSpPr>
        <p:spPr>
          <a:xfrm xmlns:a="http://schemas.openxmlformats.org/drawingml/2006/main">
            <a:off x="53340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00A17B"/>
                </a:solidFill>
              </a:defRPr>
            </a:pPr>
            <a:r>
              <a:rPr sz="1050" b="1">
                <a:solidFill>
                  <a:srgbClr val="00A17B"/>
                </a:solidFill>
              </a:rPr>
              <a:t>PROJECT SUMMARY / RECOMMENDATIONS</a:t>
            </a:r>
          </a:p>
        </p:txBody>
      </p:sp>
      <p:sp>
        <p:nvSpPr>
          <p:cNvPr id="2" name="title-2">
            <a:extLst xmlns:a="http://schemas.openxmlformats.org/drawingml/2006/main">
              <a:ext uri="{FF2B5EF4-FFF2-40B4-BE49-F238E27FC236}">
                <a16:creationId xmlns:a16="http://schemas.microsoft.com/office/drawing/2014/main" id="{4465BF7B-4CC1-4A33-AA2D-5C7C29B00A7A}"/>
              </a:ext>
            </a:extLst>
          </p:cNvPr>
          <p:cNvSpPr>
            <a:spLocks xmlns:a="http://schemas.openxmlformats.org/drawingml/2006/main" noGrp="1"/>
          </p:cNvSpPr>
          <p:nvPr/>
        </p:nvSpPr>
        <p:spPr>
          <a:xfrm xmlns:a="http://schemas.openxmlformats.org/drawingml/2006/main">
            <a:off x="533400" y="704850"/>
            <a:ext cx="914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101010"/>
                </a:solidFill>
              </a:defRPr>
            </a:pPr>
            <a:r>
              <a:rPr sz="2850" b="1">
                <a:solidFill>
                  <a:srgbClr val="101010"/>
                </a:solidFill>
              </a:rPr>
              <a:t>A trustworthy benchmark needs four safeguards</a:t>
            </a:r>
          </a:p>
        </p:txBody>
      </p:sp>
      <p:sp>
        <p:nvSpPr>
          <p:cNvPr id="3" name="">
            <a:extLst xmlns:a="http://schemas.openxmlformats.org/drawingml/2006/main">
              <a:ext uri="{FF2B5EF4-FFF2-40B4-BE49-F238E27FC236}">
                <a16:creationId xmlns:a16="http://schemas.microsoft.com/office/drawing/2014/main" id="{0DB6A8C8-6A9F-4F01-B59D-8B3620282946}"/>
              </a:ext>
            </a:extLst>
          </p:cNvPr>
          <p:cNvSpPr>
            <a:spLocks xmlns:a="http://schemas.openxmlformats.org/drawingml/2006/main" noGrp="1"/>
          </p:cNvSpPr>
          <p:nvPr/>
        </p:nvSpPr>
        <p:spPr>
          <a:xfrm xmlns:a="http://schemas.openxmlformats.org/drawingml/2006/main">
            <a:off x="11144250" y="63436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0">
                <a:solidFill>
                  <a:srgbClr val="5E6768"/>
                </a:solidFill>
              </a:defRPr>
            </a:pPr>
            <a:r>
              <a:rPr sz="900" b="0">
                <a:solidFill>
                  <a:srgbClr val="5E6768"/>
                </a:solidFill>
              </a:rPr>
              <a:t>08</a:t>
            </a:r>
          </a:p>
        </p:txBody>
      </p:sp>
      <p:sp>
        <p:nvSpPr>
          <p:cNvPr id="4" name="">
            <a:extLst xmlns:a="http://schemas.openxmlformats.org/drawingml/2006/main">
              <a:ext uri="{FF2B5EF4-FFF2-40B4-BE49-F238E27FC236}">
                <a16:creationId xmlns:a16="http://schemas.microsoft.com/office/drawing/2014/main" id="{50D8B611-0914-47A6-A586-066FA9910B31}"/>
              </a:ext>
            </a:extLst>
          </p:cNvPr>
          <p:cNvSpPr>
            <a:spLocks xmlns:a="http://schemas.openxmlformats.org/drawingml/2006/main" noGrp="1"/>
          </p:cNvSpPr>
          <p:nvPr/>
        </p:nvSpPr>
        <p:spPr>
          <a:xfrm xmlns:a="http://schemas.openxmlformats.org/drawingml/2006/main">
            <a:off x="9906000" y="0"/>
            <a:ext cx="1695450" cy="1476375"/>
          </a:xfrm>
          <a:prstGeom xmlns:a="http://schemas.openxmlformats.org/drawingml/2006/main" prst="hexagon">
            <a:avLst/>
          </a:prstGeom>
          <a:solidFill xmlns:a="http://schemas.openxmlformats.org/drawingml/2006/main">
            <a:srgbClr val="00A17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F151E2-02A6-43AC-A63D-53007D4E9A99}"/>
              </a:ext>
            </a:extLst>
          </p:cNvPr>
          <p:cNvSpPr>
            <a:spLocks xmlns:a="http://schemas.openxmlformats.org/drawingml/2006/main" noGrp="1"/>
          </p:cNvSpPr>
          <p:nvPr/>
        </p:nvSpPr>
        <p:spPr>
          <a:xfrm xmlns:a="http://schemas.openxmlformats.org/drawingml/2006/main">
            <a:off x="10601325" y="1038225"/>
            <a:ext cx="1590675" cy="1390650"/>
          </a:xfrm>
          <a:prstGeom xmlns:a="http://schemas.openxmlformats.org/drawingml/2006/main" prst="hexagon">
            <a:avLst/>
          </a:prstGeom>
          <a:solidFill xmlns:a="http://schemas.openxmlformats.org/drawingml/2006/main">
            <a:srgbClr val="004B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2A9A66-FEA7-41E6-97A3-0458F1101A74}"/>
              </a:ext>
            </a:extLst>
          </p:cNvPr>
          <p:cNvSpPr>
            <a:spLocks xmlns:a="http://schemas.openxmlformats.org/drawingml/2006/main" noGrp="1"/>
          </p:cNvSpPr>
          <p:nvPr/>
        </p:nvSpPr>
        <p:spPr>
          <a:xfrm xmlns:a="http://schemas.openxmlformats.org/drawingml/2006/main">
            <a:off x="9391650" y="1762125"/>
            <a:ext cx="1219200" cy="1057275"/>
          </a:xfrm>
          <a:prstGeom xmlns:a="http://schemas.openxmlformats.org/drawingml/2006/main" prst="hexagon">
            <a:avLst/>
          </a:prstGeom>
          <a:solidFill xmlns:a="http://schemas.openxmlformats.org/drawingml/2006/main">
            <a:srgbClr val="A3E3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0056E6A-90DD-40D3-BBF5-C2A60B10DC21}"/>
              </a:ext>
            </a:extLst>
          </p:cNvPr>
          <p:cNvSpPr>
            <a:spLocks xmlns:a="http://schemas.openxmlformats.org/drawingml/2006/main" noGrp="1"/>
          </p:cNvSpPr>
          <p:nvPr/>
        </p:nvSpPr>
        <p:spPr>
          <a:xfrm xmlns:a="http://schemas.openxmlformats.org/drawingml/2006/main">
            <a:off x="704850" y="17145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A17B"/>
                </a:solidFill>
              </a:defRPr>
            </a:pPr>
            <a:r>
              <a:rPr sz="1950" b="1">
                <a:solidFill>
                  <a:srgbClr val="00A17B"/>
                </a:solidFill>
              </a:rPr>
              <a:t>01</a:t>
            </a:r>
          </a:p>
        </p:txBody>
      </p:sp>
      <p:sp>
        <p:nvSpPr>
          <p:cNvPr id="8" name="">
            <a:extLst xmlns:a="http://schemas.openxmlformats.org/drawingml/2006/main">
              <a:ext uri="{FF2B5EF4-FFF2-40B4-BE49-F238E27FC236}">
                <a16:creationId xmlns:a16="http://schemas.microsoft.com/office/drawing/2014/main" id="{CF569A7B-763F-4E86-98D0-ABEF6A1A640C}"/>
              </a:ext>
            </a:extLst>
          </p:cNvPr>
          <p:cNvSpPr>
            <a:spLocks xmlns:a="http://schemas.openxmlformats.org/drawingml/2006/main" noGrp="1"/>
          </p:cNvSpPr>
          <p:nvPr/>
        </p:nvSpPr>
        <p:spPr>
          <a:xfrm xmlns:a="http://schemas.openxmlformats.org/drawingml/2006/main">
            <a:off x="1476375" y="17145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Split by cluster</a:t>
            </a:r>
          </a:p>
        </p:txBody>
      </p:sp>
      <p:sp>
        <p:nvSpPr>
          <p:cNvPr id="9" name="">
            <a:extLst xmlns:a="http://schemas.openxmlformats.org/drawingml/2006/main">
              <a:ext uri="{FF2B5EF4-FFF2-40B4-BE49-F238E27FC236}">
                <a16:creationId xmlns:a16="http://schemas.microsoft.com/office/drawing/2014/main" id="{FFA68AA4-EF91-4A45-AC26-E1FFFC16609C}"/>
              </a:ext>
            </a:extLst>
          </p:cNvPr>
          <p:cNvSpPr>
            <a:spLocks xmlns:a="http://schemas.openxmlformats.org/drawingml/2006/main" noGrp="1"/>
          </p:cNvSpPr>
          <p:nvPr/>
        </p:nvSpPr>
        <p:spPr>
          <a:xfrm xmlns:a="http://schemas.openxmlformats.org/drawingml/2006/main">
            <a:off x="4191000" y="17145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Keep exact and accepted near-duplicate variants on the same side.</a:t>
            </a:r>
          </a:p>
        </p:txBody>
      </p:sp>
      <p:sp>
        <p:nvSpPr>
          <p:cNvPr id="10" name="">
            <a:extLst xmlns:a="http://schemas.openxmlformats.org/drawingml/2006/main">
              <a:ext uri="{FF2B5EF4-FFF2-40B4-BE49-F238E27FC236}">
                <a16:creationId xmlns:a16="http://schemas.microsoft.com/office/drawing/2014/main" id="{727E0EDD-FF02-4D0E-8054-69C3DAC0A144}"/>
              </a:ext>
            </a:extLst>
          </p:cNvPr>
          <p:cNvSpPr>
            <a:spLocks xmlns:a="http://schemas.openxmlformats.org/drawingml/2006/main" noGrp="1"/>
          </p:cNvSpPr>
          <p:nvPr/>
        </p:nvSpPr>
        <p:spPr>
          <a:xfrm xmlns:a="http://schemas.openxmlformats.org/drawingml/2006/main">
            <a:off x="723900" y="23622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0F0BE0-2A31-4F6D-BD7D-0E0C58B2C1E3}"/>
              </a:ext>
            </a:extLst>
          </p:cNvPr>
          <p:cNvSpPr>
            <a:spLocks xmlns:a="http://schemas.openxmlformats.org/drawingml/2006/main" noGrp="1"/>
          </p:cNvSpPr>
          <p:nvPr/>
        </p:nvSpPr>
        <p:spPr>
          <a:xfrm xmlns:a="http://schemas.openxmlformats.org/drawingml/2006/main">
            <a:off x="704850" y="27051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4B50"/>
                </a:solidFill>
              </a:defRPr>
            </a:pPr>
            <a:r>
              <a:rPr sz="1950" b="1">
                <a:solidFill>
                  <a:srgbClr val="004B50"/>
                </a:solidFill>
              </a:rPr>
              <a:t>02</a:t>
            </a:r>
          </a:p>
        </p:txBody>
      </p:sp>
      <p:sp>
        <p:nvSpPr>
          <p:cNvPr id="12" name="">
            <a:extLst xmlns:a="http://schemas.openxmlformats.org/drawingml/2006/main">
              <a:ext uri="{FF2B5EF4-FFF2-40B4-BE49-F238E27FC236}">
                <a16:creationId xmlns:a16="http://schemas.microsoft.com/office/drawing/2014/main" id="{AF6F729F-82FC-406E-80E0-5B9ADD16BA22}"/>
              </a:ext>
            </a:extLst>
          </p:cNvPr>
          <p:cNvSpPr>
            <a:spLocks xmlns:a="http://schemas.openxmlformats.org/drawingml/2006/main" noGrp="1"/>
          </p:cNvSpPr>
          <p:nvPr/>
        </p:nvSpPr>
        <p:spPr>
          <a:xfrm xmlns:a="http://schemas.openxmlformats.org/drawingml/2006/main">
            <a:off x="1476375" y="27051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Clarify label policy</a:t>
            </a:r>
          </a:p>
        </p:txBody>
      </p:sp>
      <p:sp>
        <p:nvSpPr>
          <p:cNvPr id="13" name="">
            <a:extLst xmlns:a="http://schemas.openxmlformats.org/drawingml/2006/main">
              <a:ext uri="{FF2B5EF4-FFF2-40B4-BE49-F238E27FC236}">
                <a16:creationId xmlns:a16="http://schemas.microsoft.com/office/drawing/2014/main" id="{78E2C2E4-DBD6-4AFC-BBED-5EDC076A05EA}"/>
              </a:ext>
            </a:extLst>
          </p:cNvPr>
          <p:cNvSpPr>
            <a:spLocks xmlns:a="http://schemas.openxmlformats.org/drawingml/2006/main" noGrp="1"/>
          </p:cNvSpPr>
          <p:nvPr/>
        </p:nvSpPr>
        <p:spPr>
          <a:xfrm xmlns:a="http://schemas.openxmlformats.org/drawingml/2006/main">
            <a:off x="4191000" y="27051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Define subscriptions, charity, 070 numbers, and quoted spam explicitly.</a:t>
            </a:r>
          </a:p>
        </p:txBody>
      </p:sp>
      <p:sp>
        <p:nvSpPr>
          <p:cNvPr id="14" name="">
            <a:extLst xmlns:a="http://schemas.openxmlformats.org/drawingml/2006/main">
              <a:ext uri="{FF2B5EF4-FFF2-40B4-BE49-F238E27FC236}">
                <a16:creationId xmlns:a16="http://schemas.microsoft.com/office/drawing/2014/main" id="{5ACC33BF-2AB5-4C29-AD06-C1D15F86FA45}"/>
              </a:ext>
            </a:extLst>
          </p:cNvPr>
          <p:cNvSpPr>
            <a:spLocks xmlns:a="http://schemas.openxmlformats.org/drawingml/2006/main" noGrp="1"/>
          </p:cNvSpPr>
          <p:nvPr/>
        </p:nvSpPr>
        <p:spPr>
          <a:xfrm xmlns:a="http://schemas.openxmlformats.org/drawingml/2006/main">
            <a:off x="723900" y="33528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71A876F-9D84-4972-9B5A-126614EC5AB0}"/>
              </a:ext>
            </a:extLst>
          </p:cNvPr>
          <p:cNvSpPr>
            <a:spLocks xmlns:a="http://schemas.openxmlformats.org/drawingml/2006/main" noGrp="1"/>
          </p:cNvSpPr>
          <p:nvPr/>
        </p:nvSpPr>
        <p:spPr>
          <a:xfrm xmlns:a="http://schemas.openxmlformats.org/drawingml/2006/main">
            <a:off x="704850" y="36957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A17B"/>
                </a:solidFill>
              </a:defRPr>
            </a:pPr>
            <a:r>
              <a:rPr sz="1950" b="1">
                <a:solidFill>
                  <a:srgbClr val="00A17B"/>
                </a:solidFill>
              </a:rPr>
              <a:t>03</a:t>
            </a:r>
          </a:p>
        </p:txBody>
      </p:sp>
      <p:sp>
        <p:nvSpPr>
          <p:cNvPr id="16" name="">
            <a:extLst xmlns:a="http://schemas.openxmlformats.org/drawingml/2006/main">
              <a:ext uri="{FF2B5EF4-FFF2-40B4-BE49-F238E27FC236}">
                <a16:creationId xmlns:a16="http://schemas.microsoft.com/office/drawing/2014/main" id="{CBB0525C-FDCA-4A6E-B4E5-AD0B68B07235}"/>
              </a:ext>
            </a:extLst>
          </p:cNvPr>
          <p:cNvSpPr>
            <a:spLocks xmlns:a="http://schemas.openxmlformats.org/drawingml/2006/main" noGrp="1"/>
          </p:cNvSpPr>
          <p:nvPr/>
        </p:nvSpPr>
        <p:spPr>
          <a:xfrm xmlns:a="http://schemas.openxmlformats.org/drawingml/2006/main">
            <a:off x="1476375" y="36957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Report minority metrics</a:t>
            </a:r>
          </a:p>
        </p:txBody>
      </p:sp>
      <p:sp>
        <p:nvSpPr>
          <p:cNvPr id="17" name="">
            <a:extLst xmlns:a="http://schemas.openxmlformats.org/drawingml/2006/main">
              <a:ext uri="{FF2B5EF4-FFF2-40B4-BE49-F238E27FC236}">
                <a16:creationId xmlns:a16="http://schemas.microsoft.com/office/drawing/2014/main" id="{0E999CD7-47F8-4958-A858-D2ED9A79E9F5}"/>
              </a:ext>
            </a:extLst>
          </p:cNvPr>
          <p:cNvSpPr>
            <a:spLocks xmlns:a="http://schemas.openxmlformats.org/drawingml/2006/main" noGrp="1"/>
          </p:cNvSpPr>
          <p:nvPr/>
        </p:nvSpPr>
        <p:spPr>
          <a:xfrm xmlns:a="http://schemas.openxmlformats.org/drawingml/2006/main">
            <a:off x="4191000" y="36957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Pair accuracy with spam recall, spam F1, and leakage-aware sensitivity.</a:t>
            </a:r>
          </a:p>
        </p:txBody>
      </p:sp>
      <p:sp>
        <p:nvSpPr>
          <p:cNvPr id="18" name="">
            <a:extLst xmlns:a="http://schemas.openxmlformats.org/drawingml/2006/main">
              <a:ext uri="{FF2B5EF4-FFF2-40B4-BE49-F238E27FC236}">
                <a16:creationId xmlns:a16="http://schemas.microsoft.com/office/drawing/2014/main" id="{559AA8E1-151A-4B47-B362-269142AA0980}"/>
              </a:ext>
            </a:extLst>
          </p:cNvPr>
          <p:cNvSpPr>
            <a:spLocks xmlns:a="http://schemas.openxmlformats.org/drawingml/2006/main" noGrp="1"/>
          </p:cNvSpPr>
          <p:nvPr/>
        </p:nvSpPr>
        <p:spPr>
          <a:xfrm xmlns:a="http://schemas.openxmlformats.org/drawingml/2006/main">
            <a:off x="723900" y="43434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6B0EFBC-2050-4182-ACC5-8030E6F621D5}"/>
              </a:ext>
            </a:extLst>
          </p:cNvPr>
          <p:cNvSpPr>
            <a:spLocks xmlns:a="http://schemas.openxmlformats.org/drawingml/2006/main" noGrp="1"/>
          </p:cNvSpPr>
          <p:nvPr/>
        </p:nvSpPr>
        <p:spPr>
          <a:xfrm xmlns:a="http://schemas.openxmlformats.org/drawingml/2006/main">
            <a:off x="704850" y="46863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004B50"/>
                </a:solidFill>
              </a:defRPr>
            </a:pPr>
            <a:r>
              <a:rPr sz="1950" b="1">
                <a:solidFill>
                  <a:srgbClr val="004B50"/>
                </a:solidFill>
              </a:rPr>
              <a:t>04</a:t>
            </a:r>
          </a:p>
        </p:txBody>
      </p:sp>
      <p:sp>
        <p:nvSpPr>
          <p:cNvPr id="20" name="">
            <a:extLst xmlns:a="http://schemas.openxmlformats.org/drawingml/2006/main">
              <a:ext uri="{FF2B5EF4-FFF2-40B4-BE49-F238E27FC236}">
                <a16:creationId xmlns:a16="http://schemas.microsoft.com/office/drawing/2014/main" id="{8C21669B-FE10-43EE-9B10-13451930A905}"/>
              </a:ext>
            </a:extLst>
          </p:cNvPr>
          <p:cNvSpPr>
            <a:spLocks xmlns:a="http://schemas.openxmlformats.org/drawingml/2006/main" noGrp="1"/>
          </p:cNvSpPr>
          <p:nvPr/>
        </p:nvSpPr>
        <p:spPr>
          <a:xfrm xmlns:a="http://schemas.openxmlformats.org/drawingml/2006/main">
            <a:off x="1476375" y="468630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101010"/>
                </a:solidFill>
              </a:defRPr>
            </a:pPr>
            <a:r>
              <a:rPr sz="1725" b="1">
                <a:solidFill>
                  <a:srgbClr val="101010"/>
                </a:solidFill>
              </a:rPr>
              <a:t>Preserve audit trails</a:t>
            </a:r>
          </a:p>
        </p:txBody>
      </p:sp>
      <p:sp>
        <p:nvSpPr>
          <p:cNvPr id="21" name="">
            <a:extLst xmlns:a="http://schemas.openxmlformats.org/drawingml/2006/main">
              <a:ext uri="{FF2B5EF4-FFF2-40B4-BE49-F238E27FC236}">
                <a16:creationId xmlns:a16="http://schemas.microsoft.com/office/drawing/2014/main" id="{3C0BC98B-38C6-44AF-B908-E9413A286571}"/>
              </a:ext>
            </a:extLst>
          </p:cNvPr>
          <p:cNvSpPr>
            <a:spLocks xmlns:a="http://schemas.openxmlformats.org/drawingml/2006/main" noGrp="1"/>
          </p:cNvSpPr>
          <p:nvPr/>
        </p:nvSpPr>
        <p:spPr>
          <a:xfrm xmlns:a="http://schemas.openxmlformats.org/drawingml/2006/main">
            <a:off x="4191000" y="4686300"/>
            <a:ext cx="666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5E6768"/>
                </a:solidFill>
              </a:defRPr>
            </a:pPr>
            <a:r>
              <a:rPr sz="1425" b="0">
                <a:solidFill>
                  <a:srgbClr val="5E6768"/>
                </a:solidFill>
              </a:rPr>
              <a:t>Use overlays and review ledgers; never overwrite held-out labels.</a:t>
            </a:r>
          </a:p>
        </p:txBody>
      </p:sp>
      <p:sp>
        <p:nvSpPr>
          <p:cNvPr id="22" name="">
            <a:extLst xmlns:a="http://schemas.openxmlformats.org/drawingml/2006/main">
              <a:ext uri="{FF2B5EF4-FFF2-40B4-BE49-F238E27FC236}">
                <a16:creationId xmlns:a16="http://schemas.microsoft.com/office/drawing/2014/main" id="{A28A43CE-C48B-49E9-901C-29FA39EA2AE6}"/>
              </a:ext>
            </a:extLst>
          </p:cNvPr>
          <p:cNvSpPr>
            <a:spLocks xmlns:a="http://schemas.openxmlformats.org/drawingml/2006/main" noGrp="1"/>
          </p:cNvSpPr>
          <p:nvPr/>
        </p:nvSpPr>
        <p:spPr>
          <a:xfrm xmlns:a="http://schemas.openxmlformats.org/drawingml/2006/main">
            <a:off x="723900" y="5334000"/>
            <a:ext cx="9982200" cy="9525"/>
          </a:xfrm>
          <a:prstGeom xmlns:a="http://schemas.openxmlformats.org/drawingml/2006/main" prst="rect">
            <a:avLst/>
          </a:prstGeom>
          <a:solidFill xmlns:a="http://schemas.openxmlformats.org/drawingml/2006/main">
            <a:srgbClr val="C7D8D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4DD14F-5FC1-4D5A-8649-CA2858CCDFA7}"/>
              </a:ext>
            </a:extLst>
          </p:cNvPr>
          <p:cNvSpPr>
            <a:spLocks xmlns:a="http://schemas.openxmlformats.org/drawingml/2006/main" noGrp="1"/>
          </p:cNvSpPr>
          <p:nvPr/>
        </p:nvSpPr>
        <p:spPr>
          <a:xfrm xmlns:a="http://schemas.openxmlformats.org/drawingml/2006/main">
            <a:off x="1524000" y="58102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004B50"/>
                </a:solidFill>
              </a:defRPr>
            </a:pPr>
            <a:r>
              <a:rPr sz="1500" b="1">
                <a:solidFill>
                  <a:srgbClr val="004B50"/>
                </a:solidFill>
              </a:rPr>
              <a:t>The goal is not a higher score. It is an evaluation claim we can defend.</a:t>
            </a:r>
          </a:p>
        </p:txBody>
      </p:sp>
    </p:spTree>
    <p:extLst>
      <p:ext uri="{BB962C8B-B14F-4D97-AF65-F5344CB8AC3E}">
        <p14:creationId xmlns:p14="http://schemas.microsoft.com/office/powerpoint/2010/main" val="255884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2026-07-21T12:46:59.3610000Z</dcterms:created>
  <dcterms:modified xsi:type="dcterms:W3CDTF">2026-07-21T12:46:59.3610000Z</dcterms:modified>
</coreProperties>
</file>