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f5fb1da67f464d" /><Relationship Type="http://schemas.openxmlformats.org/officeDocument/2006/relationships/extended-properties" Target="/docProps/app.xml" Id="Ra573f113296c4daa" /><Relationship Type="http://schemas.openxmlformats.org/officeDocument/2006/relationships/officeDocument" Target="/ppt/presentation.xml" Id="R63f726d83e2340f8" /></Relationships>
</file>

<file path=ppt/presentation.xml><?xml version="1.0" encoding="utf-8"?>
<p:presentation xmlns:p="http://schemas.openxmlformats.org/presentationml/2006/main">
  <p:sldMasterIdLst>
    <p:sldMasterId xmlns:r="http://schemas.openxmlformats.org/officeDocument/2006/relationships" id="2147483648" r:id="R5c159be85f384029"/>
  </p:sldMasterIdLst>
  <p:notesMasterIdLst>
    <p:notesMasterId xmlns:r="http://schemas.openxmlformats.org/officeDocument/2006/relationships" r:id="R433a7a5f31e24f9d"/>
  </p:notesMasterIdLst>
  <p:sldIdLst>
    <p:sldId xmlns:r="http://schemas.openxmlformats.org/officeDocument/2006/relationships" id="256" r:id="R9ce2c33638d94536"/>
    <p:sldId xmlns:r="http://schemas.openxmlformats.org/officeDocument/2006/relationships" id="257" r:id="R1684df9bb69942ce"/>
    <p:sldId xmlns:r="http://schemas.openxmlformats.org/officeDocument/2006/relationships" id="258" r:id="R621929906855465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987c8fa8bd4137" /><Relationship Type="http://schemas.openxmlformats.org/officeDocument/2006/relationships/slideMaster" Target="/ppt/slideMasters/slideMaster1.xml" Id="R5c159be85f384029" /><Relationship Type="http://schemas.openxmlformats.org/officeDocument/2006/relationships/notesMaster" Target="/ppt/notesMasters/notesMaster1.xml" Id="R433a7a5f31e24f9d" /><Relationship Type="http://schemas.openxmlformats.org/officeDocument/2006/relationships/presProps" Target="/ppt/presProps.xml" Id="R20f3bf525366495a" /><Relationship Type="http://schemas.openxmlformats.org/officeDocument/2006/relationships/tableStyles" Target="/ppt/tableStyles.xml" Id="Rce1d9d89079b42e6" /><Relationship Type="http://schemas.openxmlformats.org/officeDocument/2006/relationships/slide" Target="/ppt/slides/slide1.xml" Id="R9ce2c33638d94536" /><Relationship Type="http://schemas.openxmlformats.org/officeDocument/2006/relationships/slide" Target="/ppt/slides/slide2.xml" Id="R1684df9bb69942ce" /><Relationship Type="http://schemas.openxmlformats.org/officeDocument/2006/relationships/slide" Target="/ppt/slides/slide3.xml" Id="R62192990685546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9d5e77308847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1105b1ac834c00" /><Relationship Type="http://schemas.openxmlformats.org/officeDocument/2006/relationships/notesMaster" Target="/ppt/notesMasters/notesMaster1.xml" Id="R801f48f848504d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aef18fc4bd4101" /><Relationship Type="http://schemas.openxmlformats.org/officeDocument/2006/relationships/notesMaster" Target="/ppt/notesMasters/notesMaster1.xml" Id="Rd52fda7559d84e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35ff03c1864d71" /><Relationship Type="http://schemas.openxmlformats.org/officeDocument/2006/relationships/notesMaster" Target="/ppt/notesMasters/notesMaster1.xml" Id="R51cbdca2e2f742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part asks whether 99.10 percent accuracy reflects semantic understanding or shortcuts. I kept the classifier fixed as Logistic Regression, but used only shallow cues such as digits, prices, URLs, and promotional words, without the original word sequence. These cues still reached 98.11 percent accuracy, only 0.99 points below the full-text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tested how data quality changes the result. After removing 63 held-out messages recoverable from training, spam recall fell from 93.96 to 90.91 percent, and spam F1 fell from 96.55 to 94.74. The score became lower because the evaluation became more independent, not because the model or data suddenly became worse.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we draw four conclusions. First, data quality changes what the score means. Second, the benchmark is in a noise-dominated regime: label and policy issues are now comparable to the remaining model errors. Third, metric choice is itself a data-quality issue, because accuracy hides minority-class changes. Finally, judgment matters more than labeling: automated signals retrieve candidates, but people make the final decision. Overall, the model is strong, but the score needs an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4f02b621944d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c62bfb8c9942a7" /><Relationship Type="http://schemas.openxmlformats.org/officeDocument/2006/relationships/slideLayout" Target="/ppt/slideLayouts/slideLayout1.xml" Id="R0670b3187ef248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70b3187ef248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545c74d52c4e01" /><Relationship Type="http://schemas.openxmlformats.org/officeDocument/2006/relationships/notesSlide" Target="/ppt/notesSlides/notesSlide1.xml" Id="Rc37c9170884245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2c7e08f73c47b1" /><Relationship Type="http://schemas.openxmlformats.org/officeDocument/2006/relationships/chart" Target="/ppt/slides/charts/chart1.xml" Id="R374cfb572abb4835" /><Relationship Type="http://schemas.openxmlformats.org/officeDocument/2006/relationships/notesSlide" Target="/ppt/notesSlides/notesSlide2.xml" Id="R9f1994f249c04c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5f7bca6c85490f" /><Relationship Type="http://schemas.openxmlformats.org/officeDocument/2006/relationships/notesSlide" Target="/ppt/notesSlides/notesSlide3.xml" Id="R4f2771ab15ef46fd" /></Relationships>
</file>

<file path=ppt/slides/charts/chart1.xml><?xml version="1.0" encoding="utf-8"?>
<c:chartSpace xmlns:c="http://schemas.openxmlformats.org/drawingml/2006/chart">
  <c:lang val="en-US"/>
  <c:chart>
    <c:plotArea>
      <c:barChart>
        <c:barDir val="col"/>
        <c:varyColors val="0"/>
        <c:ser>
          <c:idx val="0"/>
          <c:order val="0"/>
          <c:tx>
            <c:v>Spam F1</c:v>
          </c:tx>
          <c:spPr>
            <a:solidFill xmlns:a="http://schemas.openxmlformats.org/drawingml/2006/main">
              <a:srgbClr val="00A17B"/>
            </a:solidFill>
          </c:spPr>
          <c:cat>
            <c:strLit>
              <c:ptCount val="3"/>
              <c:pt idx="0">
                <c:v>Baseline</c:v>
              </c:pt>
              <c:pt idx="1">
                <c:v>Leak-aware</c:v>
              </c:pt>
              <c:pt idx="2">
                <c:v>Capped shortcut</c:v>
              </c:pt>
            </c:strLit>
          </c:cat>
          <c:val>
            <c:numLit>
              <c:formatCode>General</c:formatCode>
              <c:ptCount val="3"/>
              <c:pt idx="0">
                <c:v>96.55</c:v>
              </c:pt>
              <c:pt idx="1">
                <c:v>94.74</c:v>
              </c:pt>
              <c:pt idx="2">
                <c:v>93.99</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l"/>
        <c:majorGridlines>
          <c:spPr>
            <a:ln xmlns:a="http://schemas.openxmlformats.org/drawingml/2006/main" w="9525">
              <a:solidFill>
                <a:srgbClr val="DDE8E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C17F07-B9C7-4E25-9C3D-F03CC3C3CBA6}"/>
              </a:ext>
            </a:extLst>
          </p:cNvPr>
          <p:cNvSpPr>
            <a:spLocks xmlns:a="http://schemas.openxmlformats.org/drawingml/2006/main" noGrp="1"/>
          </p:cNvSpPr>
          <p:nvPr/>
        </p:nvSpPr>
        <p:spPr>
          <a:xfrm xmlns:a="http://schemas.openxmlformats.org/drawingml/2006/main">
            <a:off x="628650" y="5334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00A17B"/>
                </a:solidFill>
              </a:defRPr>
            </a:pPr>
            <a:r>
              <a:rPr sz="1050" b="1">
                <a:solidFill>
                  <a:srgbClr val="00A17B"/>
                </a:solidFill>
              </a:rPr>
              <a:t>TARGET 5 / SHORTCUT AUDIT</a:t>
            </a:r>
          </a:p>
        </p:txBody>
      </p:sp>
      <p:sp>
        <p:nvSpPr>
          <p:cNvPr id="2" name="">
            <a:extLst xmlns:a="http://schemas.openxmlformats.org/drawingml/2006/main">
              <a:ext uri="{FF2B5EF4-FFF2-40B4-BE49-F238E27FC236}">
                <a16:creationId xmlns:a16="http://schemas.microsoft.com/office/drawing/2014/main" id="{9F78A037-B0ED-4DE7-8E25-A2F68112CBA8}"/>
              </a:ext>
            </a:extLst>
          </p:cNvPr>
          <p:cNvSpPr>
            <a:spLocks xmlns:a="http://schemas.openxmlformats.org/drawingml/2006/main" noGrp="1"/>
          </p:cNvSpPr>
          <p:nvPr/>
        </p:nvSpPr>
        <p:spPr>
          <a:xfrm xmlns:a="http://schemas.openxmlformats.org/drawingml/2006/main">
            <a:off x="628650" y="1381125"/>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75" b="1">
                <a:solidFill>
                  <a:srgbClr val="101010"/>
                </a:solidFill>
              </a:defRPr>
            </a:pPr>
            <a:r>
              <a:rPr sz="3975" b="1">
                <a:solidFill>
                  <a:srgbClr val="101010"/>
                </a:solidFill>
              </a:rPr>
              <a:t>Did the model learn</a:t>
            </a:r>
          </a:p>
          <a:p xmlns:a="http://schemas.openxmlformats.org/drawingml/2006/main">
            <a:pPr algn="l">
              <a:buNone/>
              <a:defRPr sz="3975" b="1">
                <a:solidFill>
                  <a:srgbClr val="101010"/>
                </a:solidFill>
              </a:defRPr>
            </a:pPr>
            <a:r>
              <a:rPr sz="3975" b="1">
                <a:solidFill>
                  <a:srgbClr val="101010"/>
                </a:solidFill>
              </a:rPr>
              <a:t>meaning - or shortcuts?</a:t>
            </a:r>
          </a:p>
        </p:txBody>
      </p:sp>
      <p:sp>
        <p:nvSpPr>
          <p:cNvPr id="3" name="">
            <a:extLst xmlns:a="http://schemas.openxmlformats.org/drawingml/2006/main">
              <a:ext uri="{FF2B5EF4-FFF2-40B4-BE49-F238E27FC236}">
                <a16:creationId xmlns:a16="http://schemas.microsoft.com/office/drawing/2014/main" id="{CDE29B28-E0C4-4660-B93B-CC7367C6F1D3}"/>
              </a:ext>
            </a:extLst>
          </p:cNvPr>
          <p:cNvSpPr>
            <a:spLocks xmlns:a="http://schemas.openxmlformats.org/drawingml/2006/main" noGrp="1"/>
          </p:cNvSpPr>
          <p:nvPr/>
        </p:nvSpPr>
        <p:spPr>
          <a:xfrm xmlns:a="http://schemas.openxmlformats.org/drawingml/2006/main">
            <a:off x="666750" y="3095625"/>
            <a:ext cx="723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E6768"/>
                </a:solidFill>
              </a:defRPr>
            </a:pPr>
            <a:r>
              <a:rPr sz="1650" b="0">
                <a:solidFill>
                  <a:srgbClr val="5E6768"/>
                </a:solidFill>
              </a:rPr>
              <a:t>Same Logistic Regression. Only shallow cues. No original word sequence.</a:t>
            </a:r>
          </a:p>
        </p:txBody>
      </p:sp>
      <p:sp>
        <p:nvSpPr>
          <p:cNvPr id="4" name="">
            <a:extLst xmlns:a="http://schemas.openxmlformats.org/drawingml/2006/main">
              <a:ext uri="{FF2B5EF4-FFF2-40B4-BE49-F238E27FC236}">
                <a16:creationId xmlns:a16="http://schemas.microsoft.com/office/drawing/2014/main" id="{6147B466-922E-4D44-B77C-F3578CACC5BB}"/>
              </a:ext>
            </a:extLst>
          </p:cNvPr>
          <p:cNvSpPr>
            <a:spLocks xmlns:a="http://schemas.openxmlformats.org/drawingml/2006/main" noGrp="1"/>
          </p:cNvSpPr>
          <p:nvPr/>
        </p:nvSpPr>
        <p:spPr>
          <a:xfrm xmlns:a="http://schemas.openxmlformats.org/drawingml/2006/main">
            <a:off x="685800" y="4619625"/>
            <a:ext cx="2238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300" b="1">
                <a:solidFill>
                  <a:srgbClr val="004B50"/>
                </a:solidFill>
              </a:defRPr>
            </a:pPr>
            <a:r>
              <a:rPr sz="3300" b="1">
                <a:solidFill>
                  <a:srgbClr val="004B50"/>
                </a:solidFill>
              </a:rPr>
              <a:t>98.11%</a:t>
            </a:r>
          </a:p>
        </p:txBody>
      </p:sp>
      <p:sp>
        <p:nvSpPr>
          <p:cNvPr id="5" name="">
            <a:extLst xmlns:a="http://schemas.openxmlformats.org/drawingml/2006/main">
              <a:ext uri="{FF2B5EF4-FFF2-40B4-BE49-F238E27FC236}">
                <a16:creationId xmlns:a16="http://schemas.microsoft.com/office/drawing/2014/main" id="{980B873F-BFF8-4B0A-A3FD-1F141124CFDD}"/>
              </a:ext>
            </a:extLst>
          </p:cNvPr>
          <p:cNvSpPr>
            <a:spLocks xmlns:a="http://schemas.openxmlformats.org/drawingml/2006/main" noGrp="1"/>
          </p:cNvSpPr>
          <p:nvPr/>
        </p:nvSpPr>
        <p:spPr>
          <a:xfrm xmlns:a="http://schemas.openxmlformats.org/drawingml/2006/main">
            <a:off x="685800" y="5248275"/>
            <a:ext cx="2238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E6768"/>
                </a:solidFill>
              </a:defRPr>
            </a:pPr>
            <a:r>
              <a:rPr sz="1275" b="0">
                <a:solidFill>
                  <a:srgbClr val="5E6768"/>
                </a:solidFill>
              </a:rPr>
              <a:t>contact + promotion accuracy</a:t>
            </a:r>
          </a:p>
        </p:txBody>
      </p:sp>
      <p:sp>
        <p:nvSpPr>
          <p:cNvPr id="6" name="">
            <a:extLst xmlns:a="http://schemas.openxmlformats.org/drawingml/2006/main">
              <a:ext uri="{FF2B5EF4-FFF2-40B4-BE49-F238E27FC236}">
                <a16:creationId xmlns:a16="http://schemas.microsoft.com/office/drawing/2014/main" id="{E803F7DD-27BF-4BFB-8AA4-D6E623C3A31D}"/>
              </a:ext>
            </a:extLst>
          </p:cNvPr>
          <p:cNvSpPr>
            <a:spLocks xmlns:a="http://schemas.openxmlformats.org/drawingml/2006/main" noGrp="1"/>
          </p:cNvSpPr>
          <p:nvPr/>
        </p:nvSpPr>
        <p:spPr>
          <a:xfrm xmlns:a="http://schemas.openxmlformats.org/drawingml/2006/main">
            <a:off x="3333750" y="4619625"/>
            <a:ext cx="2238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300" b="1">
                <a:solidFill>
                  <a:srgbClr val="00A17B"/>
                </a:solidFill>
              </a:defRPr>
            </a:pPr>
            <a:r>
              <a:rPr sz="3300" b="1">
                <a:solidFill>
                  <a:srgbClr val="00A17B"/>
                </a:solidFill>
              </a:rPr>
              <a:t>99.10%</a:t>
            </a:r>
          </a:p>
        </p:txBody>
      </p:sp>
      <p:sp>
        <p:nvSpPr>
          <p:cNvPr id="7" name="">
            <a:extLst xmlns:a="http://schemas.openxmlformats.org/drawingml/2006/main">
              <a:ext uri="{FF2B5EF4-FFF2-40B4-BE49-F238E27FC236}">
                <a16:creationId xmlns:a16="http://schemas.microsoft.com/office/drawing/2014/main" id="{ADAEBA66-10E3-424C-8385-1A62FAF2A9D1}"/>
              </a:ext>
            </a:extLst>
          </p:cNvPr>
          <p:cNvSpPr>
            <a:spLocks xmlns:a="http://schemas.openxmlformats.org/drawingml/2006/main" noGrp="1"/>
          </p:cNvSpPr>
          <p:nvPr/>
        </p:nvSpPr>
        <p:spPr>
          <a:xfrm xmlns:a="http://schemas.openxmlformats.org/drawingml/2006/main">
            <a:off x="3333750" y="5248275"/>
            <a:ext cx="2238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E6768"/>
                </a:solidFill>
              </a:defRPr>
            </a:pPr>
            <a:r>
              <a:rPr sz="1275" b="0">
                <a:solidFill>
                  <a:srgbClr val="5E6768"/>
                </a:solidFill>
              </a:rPr>
              <a:t>full-text accuracy</a:t>
            </a:r>
          </a:p>
        </p:txBody>
      </p:sp>
      <p:sp>
        <p:nvSpPr>
          <p:cNvPr id="8" name="">
            <a:extLst xmlns:a="http://schemas.openxmlformats.org/drawingml/2006/main">
              <a:ext uri="{FF2B5EF4-FFF2-40B4-BE49-F238E27FC236}">
                <a16:creationId xmlns:a16="http://schemas.microsoft.com/office/drawing/2014/main" id="{1D640B99-3299-4E91-B9FD-43B9797052A8}"/>
              </a:ext>
            </a:extLst>
          </p:cNvPr>
          <p:cNvSpPr>
            <a:spLocks xmlns:a="http://schemas.openxmlformats.org/drawingml/2006/main" noGrp="1"/>
          </p:cNvSpPr>
          <p:nvPr/>
        </p:nvSpPr>
        <p:spPr>
          <a:xfrm xmlns:a="http://schemas.openxmlformats.org/drawingml/2006/main">
            <a:off x="6191250" y="4619625"/>
            <a:ext cx="2238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300" b="1">
                <a:solidFill>
                  <a:srgbClr val="E87843"/>
                </a:solidFill>
              </a:defRPr>
            </a:pPr>
            <a:r>
              <a:rPr sz="3300" b="1">
                <a:solidFill>
                  <a:srgbClr val="E87843"/>
                </a:solidFill>
              </a:rPr>
              <a:t>0.99 pt</a:t>
            </a:r>
          </a:p>
        </p:txBody>
      </p:sp>
      <p:sp>
        <p:nvSpPr>
          <p:cNvPr id="9" name="">
            <a:extLst xmlns:a="http://schemas.openxmlformats.org/drawingml/2006/main">
              <a:ext uri="{FF2B5EF4-FFF2-40B4-BE49-F238E27FC236}">
                <a16:creationId xmlns:a16="http://schemas.microsoft.com/office/drawing/2014/main" id="{7C216990-E119-44C4-ACB2-253131E3C2EC}"/>
              </a:ext>
            </a:extLst>
          </p:cNvPr>
          <p:cNvSpPr>
            <a:spLocks xmlns:a="http://schemas.openxmlformats.org/drawingml/2006/main" noGrp="1"/>
          </p:cNvSpPr>
          <p:nvPr/>
        </p:nvSpPr>
        <p:spPr>
          <a:xfrm xmlns:a="http://schemas.openxmlformats.org/drawingml/2006/main">
            <a:off x="6191250" y="5248275"/>
            <a:ext cx="2238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E6768"/>
                </a:solidFill>
              </a:defRPr>
            </a:pPr>
            <a:r>
              <a:rPr sz="1275" b="0">
                <a:solidFill>
                  <a:srgbClr val="5E6768"/>
                </a:solidFill>
              </a:rPr>
              <a:t>accuracy gap</a:t>
            </a:r>
          </a:p>
        </p:txBody>
      </p:sp>
      <p:sp>
        <p:nvSpPr>
          <p:cNvPr id="10" name="">
            <a:extLst xmlns:a="http://schemas.openxmlformats.org/drawingml/2006/main">
              <a:ext uri="{FF2B5EF4-FFF2-40B4-BE49-F238E27FC236}">
                <a16:creationId xmlns:a16="http://schemas.microsoft.com/office/drawing/2014/main" id="{9E7F780D-A5BC-428B-8A7B-471F8B542CA0}"/>
              </a:ext>
            </a:extLst>
          </p:cNvPr>
          <p:cNvSpPr>
            <a:spLocks xmlns:a="http://schemas.openxmlformats.org/drawingml/2006/main" noGrp="1"/>
          </p:cNvSpPr>
          <p:nvPr/>
        </p:nvSpPr>
        <p:spPr>
          <a:xfrm xmlns:a="http://schemas.openxmlformats.org/drawingml/2006/main">
            <a:off x="9620250" y="60960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b="1">
                <a:solidFill>
                  <a:srgbClr val="5E6768"/>
                </a:solidFill>
              </a:defRPr>
            </a:pPr>
            <a:r>
              <a:rPr sz="1050" b="1">
                <a:solidFill>
                  <a:srgbClr val="5E6768"/>
                </a:solidFill>
              </a:rPr>
              <a:t>CADIVY</a:t>
            </a:r>
          </a:p>
        </p:txBody>
      </p:sp>
      <p:sp>
        <p:nvSpPr>
          <p:cNvPr id="11" name="">
            <a:extLst xmlns:a="http://schemas.openxmlformats.org/drawingml/2006/main">
              <a:ext uri="{FF2B5EF4-FFF2-40B4-BE49-F238E27FC236}">
                <a16:creationId xmlns:a16="http://schemas.microsoft.com/office/drawing/2014/main" id="{E8AC327B-6BF0-4224-9A21-7BC8D8AE977F}"/>
              </a:ext>
            </a:extLst>
          </p:cNvPr>
          <p:cNvSpPr>
            <a:spLocks xmlns:a="http://schemas.openxmlformats.org/drawingml/2006/main" noGrp="1"/>
          </p:cNvSpPr>
          <p:nvPr/>
        </p:nvSpPr>
        <p:spPr>
          <a:xfrm xmlns:a="http://schemas.openxmlformats.org/drawingml/2006/main">
            <a:off x="9906000" y="0"/>
            <a:ext cx="1695450" cy="1476375"/>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C4852C-16D2-465D-BD79-E83E2429D89E}"/>
              </a:ext>
            </a:extLst>
          </p:cNvPr>
          <p:cNvSpPr>
            <a:spLocks xmlns:a="http://schemas.openxmlformats.org/drawingml/2006/main" noGrp="1"/>
          </p:cNvSpPr>
          <p:nvPr/>
        </p:nvSpPr>
        <p:spPr>
          <a:xfrm xmlns:a="http://schemas.openxmlformats.org/drawingml/2006/main">
            <a:off x="10601325" y="1038225"/>
            <a:ext cx="1590675" cy="1390650"/>
          </a:xfrm>
          <a:prstGeom xmlns:a="http://schemas.openxmlformats.org/drawingml/2006/main" prst="hexagon">
            <a:avLst/>
          </a:prstGeom>
          <a:solidFill xmlns:a="http://schemas.openxmlformats.org/drawingml/2006/main">
            <a:srgbClr val="004B5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415E0E-AE0A-4501-82A8-344D5D51C005}"/>
              </a:ext>
            </a:extLst>
          </p:cNvPr>
          <p:cNvSpPr>
            <a:spLocks xmlns:a="http://schemas.openxmlformats.org/drawingml/2006/main" noGrp="1"/>
          </p:cNvSpPr>
          <p:nvPr/>
        </p:nvSpPr>
        <p:spPr>
          <a:xfrm xmlns:a="http://schemas.openxmlformats.org/drawingml/2006/main">
            <a:off x="9391650" y="1762125"/>
            <a:ext cx="1219200" cy="10572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spTree>
    <p:extLst>
      <p:ext uri="{BB962C8B-B14F-4D97-AF65-F5344CB8AC3E}">
        <p14:creationId xmlns:p14="http://schemas.microsoft.com/office/powerpoint/2010/main" val="18334454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kicker-5">
            <a:extLst xmlns:a="http://schemas.openxmlformats.org/drawingml/2006/main">
              <a:ext uri="{FF2B5EF4-FFF2-40B4-BE49-F238E27FC236}">
                <a16:creationId xmlns:a16="http://schemas.microsoft.com/office/drawing/2014/main" id="{39211EC2-C54D-4837-A293-B7FEE55DD023}"/>
              </a:ext>
            </a:extLst>
          </p:cNvPr>
          <p:cNvSpPr>
            <a:spLocks xmlns:a="http://schemas.openxmlformats.org/drawingml/2006/main" noGrp="1"/>
          </p:cNvSpPr>
          <p:nvPr/>
        </p:nvSpPr>
        <p:spPr>
          <a:xfrm xmlns:a="http://schemas.openxmlformats.org/drawingml/2006/main">
            <a:off x="5334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00A17B"/>
                </a:solidFill>
              </a:defRPr>
            </a:pPr>
            <a:r>
              <a:rPr sz="1050" b="1">
                <a:solidFill>
                  <a:srgbClr val="00A17B"/>
                </a:solidFill>
              </a:rPr>
              <a:t>DATA INTERVENTION / OUTCOME</a:t>
            </a:r>
          </a:p>
        </p:txBody>
      </p:sp>
      <p:sp>
        <p:nvSpPr>
          <p:cNvPr id="2" name="title-5">
            <a:extLst xmlns:a="http://schemas.openxmlformats.org/drawingml/2006/main">
              <a:ext uri="{FF2B5EF4-FFF2-40B4-BE49-F238E27FC236}">
                <a16:creationId xmlns:a16="http://schemas.microsoft.com/office/drawing/2014/main" id="{BD2CFC25-4AB8-4E4C-A70F-8FAE997C1C4F}"/>
              </a:ext>
            </a:extLst>
          </p:cNvPr>
          <p:cNvSpPr>
            <a:spLocks xmlns:a="http://schemas.openxmlformats.org/drawingml/2006/main" noGrp="1"/>
          </p:cNvSpPr>
          <p:nvPr/>
        </p:nvSpPr>
        <p:spPr>
          <a:xfrm xmlns:a="http://schemas.openxmlformats.org/drawingml/2006/main">
            <a:off x="533400" y="70485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101010"/>
                </a:solidFill>
              </a:defRPr>
            </a:pPr>
            <a:r>
              <a:rPr sz="2850" b="1">
                <a:solidFill>
                  <a:srgbClr val="101010"/>
                </a:solidFill>
              </a:rPr>
              <a:t>Cleaner evaluation reveals lower spam F1</a:t>
            </a:r>
          </a:p>
        </p:txBody>
      </p:sp>
      <p:sp>
        <p:nvSpPr>
          <p:cNvPr id="3" name="">
            <a:extLst xmlns:a="http://schemas.openxmlformats.org/drawingml/2006/main">
              <a:ext uri="{FF2B5EF4-FFF2-40B4-BE49-F238E27FC236}">
                <a16:creationId xmlns:a16="http://schemas.microsoft.com/office/drawing/2014/main" id="{1F904383-056A-4862-A4AC-6DBDAD36FD8E}"/>
              </a:ext>
            </a:extLst>
          </p:cNvPr>
          <p:cNvSpPr>
            <a:spLocks xmlns:a="http://schemas.openxmlformats.org/drawingml/2006/main" noGrp="1"/>
          </p:cNvSpPr>
          <p:nvPr/>
        </p:nvSpPr>
        <p:spPr>
          <a:xfrm xmlns:a="http://schemas.openxmlformats.org/drawingml/2006/main">
            <a:off x="1114425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0">
                <a:solidFill>
                  <a:srgbClr val="5E6768"/>
                </a:solidFill>
              </a:defRPr>
            </a:pPr>
            <a:r>
              <a:rPr sz="900" b="0">
                <a:solidFill>
                  <a:srgbClr val="5E6768"/>
                </a:solidFill>
              </a:rPr>
              <a:t>02</a:t>
            </a:r>
          </a:p>
        </p:txBody>
      </p:sp>
      <p:sp>
        <p:nvSpPr>
          <p:cNvPr id="4" name="">
            <a:extLst xmlns:a="http://schemas.openxmlformats.org/drawingml/2006/main">
              <a:ext uri="{FF2B5EF4-FFF2-40B4-BE49-F238E27FC236}">
                <a16:creationId xmlns:a16="http://schemas.microsoft.com/office/drawing/2014/main" id="{FCC744C9-0CB9-4CBE-9A3F-DDDADDE4F78C}"/>
              </a:ext>
            </a:extLst>
          </p:cNvPr>
          <p:cNvSpPr>
            <a:spLocks xmlns:a="http://schemas.openxmlformats.org/drawingml/2006/main" noGrp="1"/>
          </p:cNvSpPr>
          <p:nvPr/>
        </p:nvSpPr>
        <p:spPr>
          <a:xfrm xmlns:a="http://schemas.openxmlformats.org/drawingml/2006/main">
            <a:off x="9906000" y="0"/>
            <a:ext cx="1695450" cy="1476375"/>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9956C9-49B0-4C9E-B124-C91786187525}"/>
              </a:ext>
            </a:extLst>
          </p:cNvPr>
          <p:cNvSpPr>
            <a:spLocks xmlns:a="http://schemas.openxmlformats.org/drawingml/2006/main" noGrp="1"/>
          </p:cNvSpPr>
          <p:nvPr/>
        </p:nvSpPr>
        <p:spPr>
          <a:xfrm xmlns:a="http://schemas.openxmlformats.org/drawingml/2006/main">
            <a:off x="10601325" y="1038225"/>
            <a:ext cx="1590675" cy="1390650"/>
          </a:xfrm>
          <a:prstGeom xmlns:a="http://schemas.openxmlformats.org/drawingml/2006/main" prst="hexagon">
            <a:avLst/>
          </a:prstGeom>
          <a:solidFill xmlns:a="http://schemas.openxmlformats.org/drawingml/2006/main">
            <a:srgbClr val="004B5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0E67606-8471-4053-9F9B-660C1DB57ADA}"/>
              </a:ext>
            </a:extLst>
          </p:cNvPr>
          <p:cNvSpPr>
            <a:spLocks xmlns:a="http://schemas.openxmlformats.org/drawingml/2006/main" noGrp="1"/>
          </p:cNvSpPr>
          <p:nvPr/>
        </p:nvSpPr>
        <p:spPr>
          <a:xfrm xmlns:a="http://schemas.openxmlformats.org/drawingml/2006/main">
            <a:off x="9391650" y="1762125"/>
            <a:ext cx="1219200" cy="10572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graphicFrame>
        <p:nvGraphicFramePr>
          <p:cNvPr id="20" name="Chart"/>
          <p:cNvGraphicFramePr/>
          <p:nvPr/>
        </p:nvGraphicFramePr>
        <p:xfrm>
          <a:off xmlns:a="http://schemas.openxmlformats.org/drawingml/2006/main" x="685800" y="1571625"/>
          <a:ext xmlns:a="http://schemas.openxmlformats.org/drawingml/2006/main" cx="7810500" cy="4333875"/>
        </p:xfrm>
        <a:graphic xmlns:a="http://schemas.openxmlformats.org/drawingml/2006/main">
          <a:graphicData uri="http://schemas.openxmlformats.org/drawingml/2006/chart">
            <c:chart xmlns:r="http://schemas.openxmlformats.org/officeDocument/2006/relationships" xmlns:c="http://schemas.openxmlformats.org/drawingml/2006/chart" r:id="R374cfb572abb4835"/>
          </a:graphicData>
        </a:graphic>
      </p:graphicFrame>
      <p:sp>
        <p:nvSpPr>
          <p:cNvPr id="8" name="">
            <a:extLst xmlns:a="http://schemas.openxmlformats.org/drawingml/2006/main">
              <a:ext uri="{FF2B5EF4-FFF2-40B4-BE49-F238E27FC236}">
                <a16:creationId xmlns:a16="http://schemas.microsoft.com/office/drawing/2014/main" id="{ACF176E1-CE5F-415D-8594-075D8AC64CDD}"/>
              </a:ext>
            </a:extLst>
          </p:cNvPr>
          <p:cNvSpPr>
            <a:spLocks xmlns:a="http://schemas.openxmlformats.org/drawingml/2006/main" noGrp="1"/>
          </p:cNvSpPr>
          <p:nvPr/>
        </p:nvSpPr>
        <p:spPr>
          <a:xfrm xmlns:a="http://schemas.openxmlformats.org/drawingml/2006/main">
            <a:off x="9048750" y="2047875"/>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a:solidFill>
                  <a:srgbClr val="004B50"/>
                </a:solidFill>
              </a:defRPr>
            </a:pPr>
            <a:r>
              <a:rPr sz="3600" b="1">
                <a:solidFill>
                  <a:srgbClr val="004B50"/>
                </a:solidFill>
              </a:rPr>
              <a:t>63</a:t>
            </a:r>
          </a:p>
        </p:txBody>
      </p:sp>
      <p:sp>
        <p:nvSpPr>
          <p:cNvPr id="9" name="">
            <a:extLst xmlns:a="http://schemas.openxmlformats.org/drawingml/2006/main">
              <a:ext uri="{FF2B5EF4-FFF2-40B4-BE49-F238E27FC236}">
                <a16:creationId xmlns:a16="http://schemas.microsoft.com/office/drawing/2014/main" id="{BD23C6CD-21EA-4CD5-96EA-803ACEF7DDEA}"/>
              </a:ext>
            </a:extLst>
          </p:cNvPr>
          <p:cNvSpPr>
            <a:spLocks xmlns:a="http://schemas.openxmlformats.org/drawingml/2006/main" noGrp="1"/>
          </p:cNvSpPr>
          <p:nvPr/>
        </p:nvSpPr>
        <p:spPr>
          <a:xfrm xmlns:a="http://schemas.openxmlformats.org/drawingml/2006/main">
            <a:off x="8858250" y="2714625"/>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5E6768"/>
                </a:solidFill>
              </a:defRPr>
            </a:pPr>
            <a:r>
              <a:rPr sz="1350" b="0">
                <a:solidFill>
                  <a:srgbClr val="5E6768"/>
                </a:solidFill>
              </a:rPr>
              <a:t>recoverable held-out rows</a:t>
            </a:r>
          </a:p>
          <a:p xmlns:a="http://schemas.openxmlformats.org/drawingml/2006/main">
            <a:pPr algn="ctr">
              <a:buNone/>
              <a:defRPr sz="1350" b="0">
                <a:solidFill>
                  <a:srgbClr val="5E6768"/>
                </a:solidFill>
              </a:defRPr>
            </a:pPr>
            <a:r>
              <a:rPr sz="1350" b="0">
                <a:solidFill>
                  <a:srgbClr val="5E6768"/>
                </a:solidFill>
              </a:rPr>
              <a:t>removed before evaluation</a:t>
            </a:r>
          </a:p>
        </p:txBody>
      </p:sp>
      <p:sp>
        <p:nvSpPr>
          <p:cNvPr id="10" name="">
            <a:extLst xmlns:a="http://schemas.openxmlformats.org/drawingml/2006/main">
              <a:ext uri="{FF2B5EF4-FFF2-40B4-BE49-F238E27FC236}">
                <a16:creationId xmlns:a16="http://schemas.microsoft.com/office/drawing/2014/main" id="{6ED31577-BE85-43DD-83CC-A39FCF0D4D32}"/>
              </a:ext>
            </a:extLst>
          </p:cNvPr>
          <p:cNvSpPr>
            <a:spLocks xmlns:a="http://schemas.openxmlformats.org/drawingml/2006/main" noGrp="1"/>
          </p:cNvSpPr>
          <p:nvPr/>
        </p:nvSpPr>
        <p:spPr>
          <a:xfrm xmlns:a="http://schemas.openxmlformats.org/drawingml/2006/main">
            <a:off x="9001125" y="400050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850" b="1">
                <a:solidFill>
                  <a:srgbClr val="E87843"/>
                </a:solidFill>
              </a:defRPr>
            </a:pPr>
            <a:r>
              <a:rPr sz="2850" b="1">
                <a:solidFill>
                  <a:srgbClr val="E87843"/>
                </a:solidFill>
              </a:rPr>
              <a:t>-3.05 pt</a:t>
            </a:r>
          </a:p>
        </p:txBody>
      </p:sp>
      <p:sp>
        <p:nvSpPr>
          <p:cNvPr id="11" name="">
            <a:extLst xmlns:a="http://schemas.openxmlformats.org/drawingml/2006/main">
              <a:ext uri="{FF2B5EF4-FFF2-40B4-BE49-F238E27FC236}">
                <a16:creationId xmlns:a16="http://schemas.microsoft.com/office/drawing/2014/main" id="{1F5B035F-45EC-4FE3-8FF5-35561D8BD8AF}"/>
              </a:ext>
            </a:extLst>
          </p:cNvPr>
          <p:cNvSpPr>
            <a:spLocks xmlns:a="http://schemas.openxmlformats.org/drawingml/2006/main" noGrp="1"/>
          </p:cNvSpPr>
          <p:nvPr/>
        </p:nvSpPr>
        <p:spPr>
          <a:xfrm xmlns:a="http://schemas.openxmlformats.org/drawingml/2006/main">
            <a:off x="9001125" y="45720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5E6768"/>
                </a:solidFill>
              </a:defRPr>
            </a:pPr>
            <a:r>
              <a:rPr sz="1350" b="0">
                <a:solidFill>
                  <a:srgbClr val="5E6768"/>
                </a:solidFill>
              </a:rPr>
              <a:t>spam recall after leakage-aware evaluation</a:t>
            </a:r>
          </a:p>
        </p:txBody>
      </p:sp>
    </p:spTree>
    <p:extLst>
      <p:ext uri="{BB962C8B-B14F-4D97-AF65-F5344CB8AC3E}">
        <p14:creationId xmlns:p14="http://schemas.microsoft.com/office/powerpoint/2010/main" val="14626330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2">
            <a:extLst xmlns:a="http://schemas.openxmlformats.org/drawingml/2006/main">
              <a:ext uri="{FF2B5EF4-FFF2-40B4-BE49-F238E27FC236}">
                <a16:creationId xmlns:a16="http://schemas.microsoft.com/office/drawing/2014/main" id="{EC65BD0B-CDC6-4AFE-A59C-C6536C1DF52A}"/>
              </a:ext>
            </a:extLst>
          </p:cNvPr>
          <p:cNvSpPr>
            <a:spLocks xmlns:a="http://schemas.openxmlformats.org/drawingml/2006/main" noGrp="1"/>
          </p:cNvSpPr>
          <p:nvPr/>
        </p:nvSpPr>
        <p:spPr>
          <a:xfrm xmlns:a="http://schemas.openxmlformats.org/drawingml/2006/main">
            <a:off x="5334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00A17B"/>
                </a:solidFill>
              </a:defRPr>
            </a:pPr>
            <a:r>
              <a:rPr sz="1050" b="1">
                <a:solidFill>
                  <a:srgbClr val="00A17B"/>
                </a:solidFill>
              </a:rPr>
              <a:t>PROJECT SUMMARY / CONCLUSIONS</a:t>
            </a:r>
          </a:p>
        </p:txBody>
      </p:sp>
      <p:sp>
        <p:nvSpPr>
          <p:cNvPr id="2" name="title-2">
            <a:extLst xmlns:a="http://schemas.openxmlformats.org/drawingml/2006/main">
              <a:ext uri="{FF2B5EF4-FFF2-40B4-BE49-F238E27FC236}">
                <a16:creationId xmlns:a16="http://schemas.microsoft.com/office/drawing/2014/main" id="{4465BF7B-4CC1-4A33-AA2D-5C7C29B00A7A}"/>
              </a:ext>
            </a:extLst>
          </p:cNvPr>
          <p:cNvSpPr>
            <a:spLocks xmlns:a="http://schemas.openxmlformats.org/drawingml/2006/main" noGrp="1"/>
          </p:cNvSpPr>
          <p:nvPr/>
        </p:nvSpPr>
        <p:spPr>
          <a:xfrm xmlns:a="http://schemas.openxmlformats.org/drawingml/2006/main">
            <a:off x="533400" y="70485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101010"/>
                </a:solidFill>
              </a:defRPr>
            </a:pPr>
            <a:r>
              <a:rPr sz="2850" b="1">
                <a:solidFill>
                  <a:srgbClr val="101010"/>
                </a:solidFill>
              </a:rPr>
              <a:t>Four conclusions from the audit</a:t>
            </a:r>
          </a:p>
        </p:txBody>
      </p:sp>
      <p:sp>
        <p:nvSpPr>
          <p:cNvPr id="3" name="">
            <a:extLst xmlns:a="http://schemas.openxmlformats.org/drawingml/2006/main">
              <a:ext uri="{FF2B5EF4-FFF2-40B4-BE49-F238E27FC236}">
                <a16:creationId xmlns:a16="http://schemas.microsoft.com/office/drawing/2014/main" id="{0DB6A8C8-6A9F-4F01-B59D-8B3620282946}"/>
              </a:ext>
            </a:extLst>
          </p:cNvPr>
          <p:cNvSpPr>
            <a:spLocks xmlns:a="http://schemas.openxmlformats.org/drawingml/2006/main" noGrp="1"/>
          </p:cNvSpPr>
          <p:nvPr/>
        </p:nvSpPr>
        <p:spPr>
          <a:xfrm xmlns:a="http://schemas.openxmlformats.org/drawingml/2006/main">
            <a:off x="1114425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0">
                <a:solidFill>
                  <a:srgbClr val="5E6768"/>
                </a:solidFill>
              </a:defRPr>
            </a:pPr>
            <a:r>
              <a:rPr sz="900" b="0">
                <a:solidFill>
                  <a:srgbClr val="5E6768"/>
                </a:solidFill>
              </a:rPr>
              <a:t>03</a:t>
            </a:r>
          </a:p>
        </p:txBody>
      </p:sp>
      <p:sp>
        <p:nvSpPr>
          <p:cNvPr id="4" name="">
            <a:extLst xmlns:a="http://schemas.openxmlformats.org/drawingml/2006/main">
              <a:ext uri="{FF2B5EF4-FFF2-40B4-BE49-F238E27FC236}">
                <a16:creationId xmlns:a16="http://schemas.microsoft.com/office/drawing/2014/main" id="{50D8B611-0914-47A6-A586-066FA9910B31}"/>
              </a:ext>
            </a:extLst>
          </p:cNvPr>
          <p:cNvSpPr>
            <a:spLocks xmlns:a="http://schemas.openxmlformats.org/drawingml/2006/main" noGrp="1"/>
          </p:cNvSpPr>
          <p:nvPr/>
        </p:nvSpPr>
        <p:spPr>
          <a:xfrm xmlns:a="http://schemas.openxmlformats.org/drawingml/2006/main">
            <a:off x="9906000" y="0"/>
            <a:ext cx="1695450" cy="1476375"/>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F151E2-02A6-43AC-A63D-53007D4E9A99}"/>
              </a:ext>
            </a:extLst>
          </p:cNvPr>
          <p:cNvSpPr>
            <a:spLocks xmlns:a="http://schemas.openxmlformats.org/drawingml/2006/main" noGrp="1"/>
          </p:cNvSpPr>
          <p:nvPr/>
        </p:nvSpPr>
        <p:spPr>
          <a:xfrm xmlns:a="http://schemas.openxmlformats.org/drawingml/2006/main">
            <a:off x="10601325" y="1038225"/>
            <a:ext cx="1590675" cy="1390650"/>
          </a:xfrm>
          <a:prstGeom xmlns:a="http://schemas.openxmlformats.org/drawingml/2006/main" prst="hexagon">
            <a:avLst/>
          </a:prstGeom>
          <a:solidFill xmlns:a="http://schemas.openxmlformats.org/drawingml/2006/main">
            <a:srgbClr val="004B5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2A9A66-FEA7-41E6-97A3-0458F1101A74}"/>
              </a:ext>
            </a:extLst>
          </p:cNvPr>
          <p:cNvSpPr>
            <a:spLocks xmlns:a="http://schemas.openxmlformats.org/drawingml/2006/main" noGrp="1"/>
          </p:cNvSpPr>
          <p:nvPr/>
        </p:nvSpPr>
        <p:spPr>
          <a:xfrm xmlns:a="http://schemas.openxmlformats.org/drawingml/2006/main">
            <a:off x="9391650" y="1762125"/>
            <a:ext cx="1219200" cy="10572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056E6A-90DD-40D3-BBF5-C2A60B10DC21}"/>
              </a:ext>
            </a:extLst>
          </p:cNvPr>
          <p:cNvSpPr>
            <a:spLocks xmlns:a="http://schemas.openxmlformats.org/drawingml/2006/main" noGrp="1"/>
          </p:cNvSpPr>
          <p:nvPr/>
        </p:nvSpPr>
        <p:spPr>
          <a:xfrm xmlns:a="http://schemas.openxmlformats.org/drawingml/2006/main">
            <a:off x="704850" y="17145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A17B"/>
                </a:solidFill>
              </a:defRPr>
            </a:pPr>
            <a:r>
              <a:rPr sz="1950" b="1">
                <a:solidFill>
                  <a:srgbClr val="00A17B"/>
                </a:solidFill>
              </a:rPr>
              <a:t>01</a:t>
            </a:r>
          </a:p>
        </p:txBody>
      </p:sp>
      <p:sp>
        <p:nvSpPr>
          <p:cNvPr id="8" name="">
            <a:extLst xmlns:a="http://schemas.openxmlformats.org/drawingml/2006/main">
              <a:ext uri="{FF2B5EF4-FFF2-40B4-BE49-F238E27FC236}">
                <a16:creationId xmlns:a16="http://schemas.microsoft.com/office/drawing/2014/main" id="{CF569A7B-763F-4E86-98D0-ABEF6A1A640C}"/>
              </a:ext>
            </a:extLst>
          </p:cNvPr>
          <p:cNvSpPr>
            <a:spLocks xmlns:a="http://schemas.openxmlformats.org/drawingml/2006/main" noGrp="1"/>
          </p:cNvSpPr>
          <p:nvPr/>
        </p:nvSpPr>
        <p:spPr>
          <a:xfrm xmlns:a="http://schemas.openxmlformats.org/drawingml/2006/main">
            <a:off x="1476375" y="17145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Score meaning</a:t>
            </a:r>
          </a:p>
        </p:txBody>
      </p:sp>
      <p:sp>
        <p:nvSpPr>
          <p:cNvPr id="9" name="">
            <a:extLst xmlns:a="http://schemas.openxmlformats.org/drawingml/2006/main">
              <a:ext uri="{FF2B5EF4-FFF2-40B4-BE49-F238E27FC236}">
                <a16:creationId xmlns:a16="http://schemas.microsoft.com/office/drawing/2014/main" id="{FFA68AA4-EF91-4A45-AC26-E1FFFC16609C}"/>
              </a:ext>
            </a:extLst>
          </p:cNvPr>
          <p:cNvSpPr>
            <a:spLocks xmlns:a="http://schemas.openxmlformats.org/drawingml/2006/main" noGrp="1"/>
          </p:cNvSpPr>
          <p:nvPr/>
        </p:nvSpPr>
        <p:spPr>
          <a:xfrm xmlns:a="http://schemas.openxmlformats.org/drawingml/2006/main">
            <a:off x="4191000" y="17145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Data quality changes what the score means.</a:t>
            </a:r>
          </a:p>
        </p:txBody>
      </p:sp>
      <p:sp>
        <p:nvSpPr>
          <p:cNvPr id="10" name="">
            <a:extLst xmlns:a="http://schemas.openxmlformats.org/drawingml/2006/main">
              <a:ext uri="{FF2B5EF4-FFF2-40B4-BE49-F238E27FC236}">
                <a16:creationId xmlns:a16="http://schemas.microsoft.com/office/drawing/2014/main" id="{727E0EDD-FF02-4D0E-8054-69C3DAC0A144}"/>
              </a:ext>
            </a:extLst>
          </p:cNvPr>
          <p:cNvSpPr>
            <a:spLocks xmlns:a="http://schemas.openxmlformats.org/drawingml/2006/main" noGrp="1"/>
          </p:cNvSpPr>
          <p:nvPr/>
        </p:nvSpPr>
        <p:spPr>
          <a:xfrm xmlns:a="http://schemas.openxmlformats.org/drawingml/2006/main">
            <a:off x="723900" y="23622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0F0BE0-2A31-4F6D-BD7D-0E0C58B2C1E3}"/>
              </a:ext>
            </a:extLst>
          </p:cNvPr>
          <p:cNvSpPr>
            <a:spLocks xmlns:a="http://schemas.openxmlformats.org/drawingml/2006/main" noGrp="1"/>
          </p:cNvSpPr>
          <p:nvPr/>
        </p:nvSpPr>
        <p:spPr>
          <a:xfrm xmlns:a="http://schemas.openxmlformats.org/drawingml/2006/main">
            <a:off x="704850"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4B50"/>
                </a:solidFill>
              </a:defRPr>
            </a:pPr>
            <a:r>
              <a:rPr sz="1950" b="1">
                <a:solidFill>
                  <a:srgbClr val="004B50"/>
                </a:solidFill>
              </a:rPr>
              <a:t>02</a:t>
            </a:r>
          </a:p>
        </p:txBody>
      </p:sp>
      <p:sp>
        <p:nvSpPr>
          <p:cNvPr id="12" name="">
            <a:extLst xmlns:a="http://schemas.openxmlformats.org/drawingml/2006/main">
              <a:ext uri="{FF2B5EF4-FFF2-40B4-BE49-F238E27FC236}">
                <a16:creationId xmlns:a16="http://schemas.microsoft.com/office/drawing/2014/main" id="{AF6F729F-82FC-406E-80E0-5B9ADD16BA22}"/>
              </a:ext>
            </a:extLst>
          </p:cNvPr>
          <p:cNvSpPr>
            <a:spLocks xmlns:a="http://schemas.openxmlformats.org/drawingml/2006/main" noGrp="1"/>
          </p:cNvSpPr>
          <p:nvPr/>
        </p:nvSpPr>
        <p:spPr>
          <a:xfrm xmlns:a="http://schemas.openxmlformats.org/drawingml/2006/main">
            <a:off x="1476375" y="27051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Noise-dominated</a:t>
            </a:r>
          </a:p>
        </p:txBody>
      </p:sp>
      <p:sp>
        <p:nvSpPr>
          <p:cNvPr id="13" name="">
            <a:extLst xmlns:a="http://schemas.openxmlformats.org/drawingml/2006/main">
              <a:ext uri="{FF2B5EF4-FFF2-40B4-BE49-F238E27FC236}">
                <a16:creationId xmlns:a16="http://schemas.microsoft.com/office/drawing/2014/main" id="{78E2C2E4-DBD6-4AFC-BBED-5EDC076A05EA}"/>
              </a:ext>
            </a:extLst>
          </p:cNvPr>
          <p:cNvSpPr>
            <a:spLocks xmlns:a="http://schemas.openxmlformats.org/drawingml/2006/main" noGrp="1"/>
          </p:cNvSpPr>
          <p:nvPr/>
        </p:nvSpPr>
        <p:spPr>
          <a:xfrm xmlns:a="http://schemas.openxmlformats.org/drawingml/2006/main">
            <a:off x="4191000" y="27051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The benchmark is in the noise-dominated regime.</a:t>
            </a:r>
          </a:p>
        </p:txBody>
      </p:sp>
      <p:sp>
        <p:nvSpPr>
          <p:cNvPr id="14" name="">
            <a:extLst xmlns:a="http://schemas.openxmlformats.org/drawingml/2006/main">
              <a:ext uri="{FF2B5EF4-FFF2-40B4-BE49-F238E27FC236}">
                <a16:creationId xmlns:a16="http://schemas.microsoft.com/office/drawing/2014/main" id="{5ACC33BF-2AB5-4C29-AD06-C1D15F86FA45}"/>
              </a:ext>
            </a:extLst>
          </p:cNvPr>
          <p:cNvSpPr>
            <a:spLocks xmlns:a="http://schemas.openxmlformats.org/drawingml/2006/main" noGrp="1"/>
          </p:cNvSpPr>
          <p:nvPr/>
        </p:nvSpPr>
        <p:spPr>
          <a:xfrm xmlns:a="http://schemas.openxmlformats.org/drawingml/2006/main">
            <a:off x="723900" y="33528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71A876F-9D84-4972-9B5A-126614EC5AB0}"/>
              </a:ext>
            </a:extLst>
          </p:cNvPr>
          <p:cNvSpPr>
            <a:spLocks xmlns:a="http://schemas.openxmlformats.org/drawingml/2006/main" noGrp="1"/>
          </p:cNvSpPr>
          <p:nvPr/>
        </p:nvSpPr>
        <p:spPr>
          <a:xfrm xmlns:a="http://schemas.openxmlformats.org/drawingml/2006/main">
            <a:off x="704850" y="36957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A17B"/>
                </a:solidFill>
              </a:defRPr>
            </a:pPr>
            <a:r>
              <a:rPr sz="1950" b="1">
                <a:solidFill>
                  <a:srgbClr val="00A17B"/>
                </a:solidFill>
              </a:rPr>
              <a:t>03</a:t>
            </a:r>
          </a:p>
        </p:txBody>
      </p:sp>
      <p:sp>
        <p:nvSpPr>
          <p:cNvPr id="16" name="">
            <a:extLst xmlns:a="http://schemas.openxmlformats.org/drawingml/2006/main">
              <a:ext uri="{FF2B5EF4-FFF2-40B4-BE49-F238E27FC236}">
                <a16:creationId xmlns:a16="http://schemas.microsoft.com/office/drawing/2014/main" id="{CBB0525C-FDCA-4A6E-B4E5-AD0B68B07235}"/>
              </a:ext>
            </a:extLst>
          </p:cNvPr>
          <p:cNvSpPr>
            <a:spLocks xmlns:a="http://schemas.openxmlformats.org/drawingml/2006/main" noGrp="1"/>
          </p:cNvSpPr>
          <p:nvPr/>
        </p:nvSpPr>
        <p:spPr>
          <a:xfrm xmlns:a="http://schemas.openxmlformats.org/drawingml/2006/main">
            <a:off x="1476375" y="36957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Metric choice</a:t>
            </a:r>
          </a:p>
        </p:txBody>
      </p:sp>
      <p:sp>
        <p:nvSpPr>
          <p:cNvPr id="17" name="">
            <a:extLst xmlns:a="http://schemas.openxmlformats.org/drawingml/2006/main">
              <a:ext uri="{FF2B5EF4-FFF2-40B4-BE49-F238E27FC236}">
                <a16:creationId xmlns:a16="http://schemas.microsoft.com/office/drawing/2014/main" id="{0E999CD7-47F8-4958-A858-D2ED9A79E9F5}"/>
              </a:ext>
            </a:extLst>
          </p:cNvPr>
          <p:cNvSpPr>
            <a:spLocks xmlns:a="http://schemas.openxmlformats.org/drawingml/2006/main" noGrp="1"/>
          </p:cNvSpPr>
          <p:nvPr/>
        </p:nvSpPr>
        <p:spPr>
          <a:xfrm xmlns:a="http://schemas.openxmlformats.org/drawingml/2006/main">
            <a:off x="4191000" y="36957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Metric choice is itself a data-quality issue.</a:t>
            </a:r>
          </a:p>
        </p:txBody>
      </p:sp>
      <p:sp>
        <p:nvSpPr>
          <p:cNvPr id="18" name="">
            <a:extLst xmlns:a="http://schemas.openxmlformats.org/drawingml/2006/main">
              <a:ext uri="{FF2B5EF4-FFF2-40B4-BE49-F238E27FC236}">
                <a16:creationId xmlns:a16="http://schemas.microsoft.com/office/drawing/2014/main" id="{559AA8E1-151A-4B47-B362-269142AA0980}"/>
              </a:ext>
            </a:extLst>
          </p:cNvPr>
          <p:cNvSpPr>
            <a:spLocks xmlns:a="http://schemas.openxmlformats.org/drawingml/2006/main" noGrp="1"/>
          </p:cNvSpPr>
          <p:nvPr/>
        </p:nvSpPr>
        <p:spPr>
          <a:xfrm xmlns:a="http://schemas.openxmlformats.org/drawingml/2006/main">
            <a:off x="723900" y="43434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6B0EFBC-2050-4182-ACC5-8030E6F621D5}"/>
              </a:ext>
            </a:extLst>
          </p:cNvPr>
          <p:cNvSpPr>
            <a:spLocks xmlns:a="http://schemas.openxmlformats.org/drawingml/2006/main" noGrp="1"/>
          </p:cNvSpPr>
          <p:nvPr/>
        </p:nvSpPr>
        <p:spPr>
          <a:xfrm xmlns:a="http://schemas.openxmlformats.org/drawingml/2006/main">
            <a:off x="704850" y="46863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4B50"/>
                </a:solidFill>
              </a:defRPr>
            </a:pPr>
            <a:r>
              <a:rPr sz="1950" b="1">
                <a:solidFill>
                  <a:srgbClr val="004B50"/>
                </a:solidFill>
              </a:rPr>
              <a:t>04</a:t>
            </a:r>
          </a:p>
        </p:txBody>
      </p:sp>
      <p:sp>
        <p:nvSpPr>
          <p:cNvPr id="20" name="">
            <a:extLst xmlns:a="http://schemas.openxmlformats.org/drawingml/2006/main">
              <a:ext uri="{FF2B5EF4-FFF2-40B4-BE49-F238E27FC236}">
                <a16:creationId xmlns:a16="http://schemas.microsoft.com/office/drawing/2014/main" id="{8C21669B-FE10-43EE-9B10-13451930A905}"/>
              </a:ext>
            </a:extLst>
          </p:cNvPr>
          <p:cNvSpPr>
            <a:spLocks xmlns:a="http://schemas.openxmlformats.org/drawingml/2006/main" noGrp="1"/>
          </p:cNvSpPr>
          <p:nvPr/>
        </p:nvSpPr>
        <p:spPr>
          <a:xfrm xmlns:a="http://schemas.openxmlformats.org/drawingml/2006/main">
            <a:off x="1476375" y="46863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Human judgment</a:t>
            </a:r>
          </a:p>
        </p:txBody>
      </p:sp>
      <p:sp>
        <p:nvSpPr>
          <p:cNvPr id="21" name="">
            <a:extLst xmlns:a="http://schemas.openxmlformats.org/drawingml/2006/main">
              <a:ext uri="{FF2B5EF4-FFF2-40B4-BE49-F238E27FC236}">
                <a16:creationId xmlns:a16="http://schemas.microsoft.com/office/drawing/2014/main" id="{3C0BC98B-38C6-44AF-B908-E9413A286571}"/>
              </a:ext>
            </a:extLst>
          </p:cNvPr>
          <p:cNvSpPr>
            <a:spLocks xmlns:a="http://schemas.openxmlformats.org/drawingml/2006/main" noGrp="1"/>
          </p:cNvSpPr>
          <p:nvPr/>
        </p:nvSpPr>
        <p:spPr>
          <a:xfrm xmlns:a="http://schemas.openxmlformats.org/drawingml/2006/main">
            <a:off x="4191000" y="46863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Judgment matters more than labeling.</a:t>
            </a:r>
          </a:p>
        </p:txBody>
      </p:sp>
      <p:sp>
        <p:nvSpPr>
          <p:cNvPr id="22" name="">
            <a:extLst xmlns:a="http://schemas.openxmlformats.org/drawingml/2006/main">
              <a:ext uri="{FF2B5EF4-FFF2-40B4-BE49-F238E27FC236}">
                <a16:creationId xmlns:a16="http://schemas.microsoft.com/office/drawing/2014/main" id="{A28A43CE-C48B-49E9-901C-29FA39EA2AE6}"/>
              </a:ext>
            </a:extLst>
          </p:cNvPr>
          <p:cNvSpPr>
            <a:spLocks xmlns:a="http://schemas.openxmlformats.org/drawingml/2006/main" noGrp="1"/>
          </p:cNvSpPr>
          <p:nvPr/>
        </p:nvSpPr>
        <p:spPr>
          <a:xfrm xmlns:a="http://schemas.openxmlformats.org/drawingml/2006/main">
            <a:off x="723900" y="53340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94DD14F-5FC1-4D5A-8649-CA2858CCDFA7}"/>
              </a:ext>
            </a:extLst>
          </p:cNvPr>
          <p:cNvSpPr>
            <a:spLocks xmlns:a="http://schemas.openxmlformats.org/drawingml/2006/main" noGrp="1"/>
          </p:cNvSpPr>
          <p:nvPr/>
        </p:nvSpPr>
        <p:spPr>
          <a:xfrm xmlns:a="http://schemas.openxmlformats.org/drawingml/2006/main">
            <a:off x="1524000" y="58102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04B50"/>
                </a:solidFill>
              </a:defRPr>
            </a:pPr>
            <a:r>
              <a:rPr sz="1500" b="1">
                <a:solidFill>
                  <a:srgbClr val="004B50"/>
                </a:solidFill>
              </a:rPr>
              <a:t>The model is strong on this split - but the score needs an audit.</a:t>
            </a:r>
          </a:p>
        </p:txBody>
      </p:sp>
    </p:spTree>
    <p:extLst>
      <p:ext uri="{BB962C8B-B14F-4D97-AF65-F5344CB8AC3E}">
        <p14:creationId xmlns:p14="http://schemas.microsoft.com/office/powerpoint/2010/main" val="255884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2026-07-21T13:21:25.2560000Z</dcterms:created>
  <dcterms:modified xsi:type="dcterms:W3CDTF">2026-07-21T13:21:25.2560000Z</dcterms:modified>
</coreProperties>
</file>