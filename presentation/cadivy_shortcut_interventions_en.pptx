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4a1bfc0f7c43bf" /><Relationship Type="http://schemas.openxmlformats.org/officeDocument/2006/relationships/extended-properties" Target="/docProps/app.xml" Id="R4ae49ac9181042a5" /><Relationship Type="http://schemas.openxmlformats.org/officeDocument/2006/relationships/officeDocument" Target="/ppt/presentation.xml" Id="R1fb66f28e32e40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b88659bf774706"/>
  </p:sldMasterIdLst>
  <p:notesMasterIdLst>
    <p:notesMasterId xmlns:r="http://schemas.openxmlformats.org/officeDocument/2006/relationships" r:id="R059056d01ddf4b68"/>
  </p:notesMasterIdLst>
  <p:sldIdLst>
    <p:sldId xmlns:r="http://schemas.openxmlformats.org/officeDocument/2006/relationships" id="256" r:id="R86a6292cbde34f3b"/>
    <p:sldId xmlns:r="http://schemas.openxmlformats.org/officeDocument/2006/relationships" id="257" r:id="Rb4b70f57eb754897"/>
    <p:sldId xmlns:r="http://schemas.openxmlformats.org/officeDocument/2006/relationships" id="258" r:id="R66bdd432914a4bae"/>
    <p:sldId xmlns:r="http://schemas.openxmlformats.org/officeDocument/2006/relationships" id="259" r:id="R41495a14ca8c472f"/>
    <p:sldId xmlns:r="http://schemas.openxmlformats.org/officeDocument/2006/relationships" id="260" r:id="R9feabcc7c74a4839"/>
    <p:sldId xmlns:r="http://schemas.openxmlformats.org/officeDocument/2006/relationships" id="261" r:id="R474405663aa641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12b708af441c1" /><Relationship Type="http://schemas.openxmlformats.org/officeDocument/2006/relationships/slideMaster" Target="/ppt/slideMasters/slideMaster1.xml" Id="Racb88659bf774706" /><Relationship Type="http://schemas.openxmlformats.org/officeDocument/2006/relationships/notesMaster" Target="/ppt/notesMasters/notesMaster1.xml" Id="R059056d01ddf4b68" /><Relationship Type="http://schemas.openxmlformats.org/officeDocument/2006/relationships/presProps" Target="/ppt/presProps.xml" Id="R3dd9eb99ca14483c" /><Relationship Type="http://schemas.openxmlformats.org/officeDocument/2006/relationships/tableStyles" Target="/ppt/tableStyles.xml" Id="Rc5af12fd5cfe4bed" /><Relationship Type="http://schemas.openxmlformats.org/officeDocument/2006/relationships/slide" Target="/ppt/slides/slide1.xml" Id="R86a6292cbde34f3b" /><Relationship Type="http://schemas.openxmlformats.org/officeDocument/2006/relationships/slide" Target="/ppt/slides/slide2.xml" Id="Rb4b70f57eb754897" /><Relationship Type="http://schemas.openxmlformats.org/officeDocument/2006/relationships/slide" Target="/ppt/slides/slide3.xml" Id="R66bdd432914a4bae" /><Relationship Type="http://schemas.openxmlformats.org/officeDocument/2006/relationships/slide" Target="/ppt/slides/slide4.xml" Id="R41495a14ca8c472f" /><Relationship Type="http://schemas.openxmlformats.org/officeDocument/2006/relationships/slide" Target="/ppt/slides/slide5.xml" Id="R9feabcc7c74a4839" /><Relationship Type="http://schemas.openxmlformats.org/officeDocument/2006/relationships/slide" Target="/ppt/slides/slide6.xml" Id="R474405663aa6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55ee880e1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5f350cc0a54d81" /><Relationship Type="http://schemas.openxmlformats.org/officeDocument/2006/relationships/notesMaster" Target="/ppt/notesMasters/notesMaster1.xml" Id="R6d252a9fde8644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66a189703f41dd" /><Relationship Type="http://schemas.openxmlformats.org/officeDocument/2006/relationships/notesMaster" Target="/ppt/notesMasters/notesMaster1.xml" Id="R1b54794d11154f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5077c7ab1345f7" /><Relationship Type="http://schemas.openxmlformats.org/officeDocument/2006/relationships/notesMaster" Target="/ppt/notesMasters/notesMaster1.xml" Id="R2b3d634c00f140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09941e323a4cfa" /><Relationship Type="http://schemas.openxmlformats.org/officeDocument/2006/relationships/notesMaster" Target="/ppt/notesMasters/notesMaster1.xml" Id="R5a2ed13417d248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0f83f24e3434c" /><Relationship Type="http://schemas.openxmlformats.org/officeDocument/2006/relationships/notesMaster" Target="/ppt/notesMasters/notesMaster1.xml" Id="R019e94d018d0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b9e141403741bc" /><Relationship Type="http://schemas.openxmlformats.org/officeDocument/2006/relationships/notesMaster" Target="/ppt/notesMasters/notesMaster1.xml" Id="R4363f235862d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8b64f8525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a32035aaa47e4" /><Relationship Type="http://schemas.openxmlformats.org/officeDocument/2006/relationships/slideLayout" Target="/ppt/slideLayouts/slideLayout1.xml" Id="R0330ec7df650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30ec7df650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dfe8bf31b4bd2" /><Relationship Type="http://schemas.openxmlformats.org/officeDocument/2006/relationships/notesSlide" Target="/ppt/notesSlides/notesSlide1.xml" Id="Rc3ee9b86b36a43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58d4bd124411c" /><Relationship Type="http://schemas.openxmlformats.org/officeDocument/2006/relationships/notesSlide" Target="/ppt/notesSlides/notesSlide2.xml" Id="R29856381adaa49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cca8a92624522" /><Relationship Type="http://schemas.openxmlformats.org/officeDocument/2006/relationships/chart" Target="/ppt/slides/charts/chart1.xml" Id="R2eef5e7578e749ea" /><Relationship Type="http://schemas.openxmlformats.org/officeDocument/2006/relationships/notesSlide" Target="/ppt/notesSlides/notesSlide3.xml" Id="Rc40059fffedd47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c2a1e90aa4946" /><Relationship Type="http://schemas.openxmlformats.org/officeDocument/2006/relationships/notesSlide" Target="/ppt/notesSlides/notesSlide4.xml" Id="R897445f8563f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6dca7f3c45d0" /><Relationship Type="http://schemas.openxmlformats.org/officeDocument/2006/relationships/chart" Target="/ppt/slides/charts/chart2.xml" Id="R150ff1bf60ac4bdd" /><Relationship Type="http://schemas.openxmlformats.org/officeDocument/2006/relationships/notesSlide" Target="/ppt/notesSlides/notesSlide5.xml" Id="Rf057d8241d5c43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1d8f565e84ec2" /><Relationship Type="http://schemas.openxmlformats.org/officeDocument/2006/relationships/notesSlide" Target="/ppt/notesSlides/notesSlide6.xml" Id="R582da8e6a0294d0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004B50"/>
            </a:solidFill>
          </c:spPr>
          <c:cat>
            <c:strLit>
              <c:ptCount val="6"/>
              <c:pt idx="0">
                <c:v>Majority ham</c:v>
              </c:pt>
              <c:pt idx="1">
                <c:v>Shape only</c:v>
              </c:pt>
              <c:pt idx="2">
                <c:v>Contact + promo</c:v>
              </c:pt>
              <c:pt idx="3">
                <c:v>All shallow</c:v>
              </c:pt>
              <c:pt idx="4">
                <c:v>Masked text</c:v>
              </c:pt>
              <c:pt idx="5">
                <c:v>Full text</c:v>
              </c:pt>
            </c:strLit>
          </c:cat>
          <c:val>
            <c:numLit>
              <c:formatCode>General</c:formatCode>
              <c:ptCount val="6"/>
              <c:pt idx="0">
                <c:v>86.62</c:v>
              </c:pt>
              <c:pt idx="1">
                <c:v>89.5</c:v>
              </c:pt>
              <c:pt idx="2">
                <c:v>98.11</c:v>
              </c:pt>
              <c:pt idx="3">
                <c:v>98.2</c:v>
              </c:pt>
              <c:pt idx="4">
                <c:v>98.92</c:v>
              </c:pt>
              <c:pt idx="5">
                <c:v>99.1</c:v>
              </c:pt>
            </c:numLit>
          </c:val>
        </c:ser>
        <c:ser>
          <c:idx val="1"/>
          <c:order val="1"/>
          <c:tx>
            <c:v>Spam F1</c:v>
          </c:tx>
          <c:spPr>
            <a:solidFill xmlns:a="http://schemas.openxmlformats.org/drawingml/2006/main">
              <a:srgbClr val="00A17B"/>
            </a:solidFill>
          </c:spPr>
          <c:cat>
            <c:strLit>
              <c:ptCount val="6"/>
              <c:pt idx="0">
                <c:v>Majority ham</c:v>
              </c:pt>
              <c:pt idx="1">
                <c:v>Shape only</c:v>
              </c:pt>
              <c:pt idx="2">
                <c:v>Contact + promo</c:v>
              </c:pt>
              <c:pt idx="3">
                <c:v>All shallow</c:v>
              </c:pt>
              <c:pt idx="4">
                <c:v>Masked text</c:v>
              </c:pt>
              <c:pt idx="5">
                <c:v>Full text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48.91</c:v>
              </c:pt>
              <c:pt idx="2">
                <c:v>92.78</c:v>
              </c:pt>
              <c:pt idx="3">
                <c:v>93.15</c:v>
              </c:pt>
              <c:pt idx="4">
                <c:v>95.14</c:v>
              </c:pt>
              <c:pt idx="5">
                <c:v>96.55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8E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Spam F1 (%)</c:v>
          </c:tx>
          <c:spPr>
            <a:solidFill xmlns:a="http://schemas.openxmlformats.org/drawingml/2006/main">
              <a:srgbClr val="00A17B"/>
            </a:solidFill>
          </c:spPr>
          <c:cat>
            <c:strLit>
              <c:ptCount val="9"/>
              <c:pt idx="0">
                <c:v>Baseline</c:v>
              </c:pt>
              <c:pt idx="1">
                <c:v>Leak-aware</c:v>
              </c:pt>
              <c:pt idx="2">
                <c:v>Adjudication</c:v>
              </c:pt>
              <c:pt idx="3">
                <c:v>Leak partners</c:v>
              </c:pt>
              <c:pt idx="4">
                <c:v>Label overlay</c:v>
              </c:pt>
              <c:pt idx="5">
                <c:v>Ambiguous rows</c:v>
              </c:pt>
              <c:pt idx="6">
                <c:v>Shortcuts</c:v>
              </c:pt>
              <c:pt idx="7">
                <c:v>De-duplicate</c:v>
              </c:pt>
              <c:pt idx="8">
                <c:v>Combined</c:v>
              </c:pt>
            </c:strLit>
          </c:cat>
          <c:val>
            <c:numLit>
              <c:formatCode>General</c:formatCode>
              <c:ptCount val="9"/>
              <c:pt idx="0">
                <c:v>96.55</c:v>
              </c:pt>
              <c:pt idx="1">
                <c:v>94.74</c:v>
              </c:pt>
              <c:pt idx="2">
                <c:v>97.54</c:v>
              </c:pt>
              <c:pt idx="3">
                <c:v>96.17</c:v>
              </c:pt>
              <c:pt idx="4">
                <c:v>95.83</c:v>
              </c:pt>
              <c:pt idx="5">
                <c:v>96.17</c:v>
              </c:pt>
              <c:pt idx="6">
                <c:v>95.24</c:v>
              </c:pt>
              <c:pt idx="7">
                <c:v>95.5</c:v>
              </c:pt>
              <c:pt idx="8">
                <c:v>94.16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8E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17F07-B9C7-4E25-9C3D-F03CC3C3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17B"/>
                </a:solidFill>
              </a:defRPr>
            </a:pPr>
            <a:r>
              <a:rPr sz="1050" b="1">
                <a:solidFill>
                  <a:srgbClr val="00A17B"/>
                </a:solidFill>
              </a:rPr>
              <a:t>DATASET FORENSICS / TARGET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8A037-B0ED-4DE7-8E25-A2F68112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01010"/>
                </a:solidFill>
              </a:defRPr>
            </a:pPr>
            <a:r>
              <a:rPr sz="3975" b="1">
                <a:solidFill>
                  <a:srgbClr val="101010"/>
                </a:solidFill>
              </a:rPr>
              <a:t>Did the model learn</a:t>
            </a:r>
          </a:p>
          <a:p xmlns:a="http://schemas.openxmlformats.org/drawingml/2006/main">
            <a:pPr algn="l">
              <a:defRPr sz="3975" b="1">
                <a:solidFill>
                  <a:srgbClr val="101010"/>
                </a:solidFill>
              </a:defRPr>
            </a:pPr>
            <a:r>
              <a:rPr sz="3975" b="1">
                <a:solidFill>
                  <a:srgbClr val="101010"/>
                </a:solidFill>
              </a:rPr>
              <a:t>meaning - or shortcuts?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29B28-E0C4-4660-B93B-CC7367C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768"/>
                </a:solidFill>
              </a:defRPr>
            </a:pPr>
            <a:r>
              <a:rPr sz="1650" b="0">
                <a:solidFill>
                  <a:srgbClr val="5E6768"/>
                </a:solidFill>
              </a:rPr>
              <a:t>We isolate message shape, contact details, promotional cues and row position to measure how much of the held-out score can be reproduced without the original word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7B466-922E-4D44-B77C-F3578CA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4B50"/>
                </a:solidFill>
              </a:defRPr>
            </a:pPr>
            <a:r>
              <a:rPr sz="3300" b="1">
                <a:solidFill>
                  <a:srgbClr val="004B50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B873F-BFF8-4B0A-A3FD-1F14112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768"/>
                </a:solidFill>
              </a:defRPr>
            </a:pPr>
            <a:r>
              <a:rPr sz="1275" b="0">
                <a:solidFill>
                  <a:srgbClr val="5E6768"/>
                </a:solidFill>
              </a:rPr>
              <a:t>hand-crafted shallow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3F7DD-27BF-4BFB-8AA4-D6E623C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A17B"/>
                </a:solidFill>
              </a:defRPr>
            </a:pPr>
            <a:r>
              <a:rPr sz="3300" b="1">
                <a:solidFill>
                  <a:srgbClr val="00A17B"/>
                </a:solidFill>
              </a:rPr>
              <a:t>98.20%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EBA66-10E3-424C-8385-1A62FAF2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82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768"/>
                </a:solidFill>
              </a:defRPr>
            </a:pPr>
            <a:r>
              <a:rPr sz="1275" b="0">
                <a:solidFill>
                  <a:srgbClr val="5E6768"/>
                </a:solidFill>
              </a:rPr>
              <a:t>all-shallow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40B99-3299-4E91-B9FD-43B97970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7843"/>
                </a:solidFill>
              </a:defRPr>
            </a:pPr>
            <a:r>
              <a:rPr sz="3300" b="1">
                <a:solidFill>
                  <a:srgbClr val="E87843"/>
                </a:solidFill>
              </a:rPr>
              <a:t>0.90 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16990-E119-44C4-ACB2-253131E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482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768"/>
                </a:solidFill>
              </a:defRPr>
            </a:pPr>
            <a:r>
              <a:rPr sz="1275" b="0">
                <a:solidFill>
                  <a:srgbClr val="5E6768"/>
                </a:solidFill>
              </a:rPr>
              <a:t>gap to the full-text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F780D-A5BC-428B-8A7B-471F8B5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96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768"/>
                </a:solidFill>
              </a:defRPr>
            </a:pPr>
            <a:r>
              <a:rPr sz="1050" b="1">
                <a:solidFill>
                  <a:srgbClr val="5E6768"/>
                </a:solidFill>
              </a:rPr>
              <a:t>CADIVY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C327B-6BF0-4224-9A21-7BC8D8A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1695450" cy="1476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4852C-16D2-465D-BD79-E83E2429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38225"/>
            <a:ext cx="1590675" cy="1390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15E0E-AE0A-4501-82A8-344D5D51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62125"/>
            <a:ext cx="1219200" cy="10572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3E36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3445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2">
            <a:extLst xmlns:a="http://schemas.openxmlformats.org/drawingml/2006/main">
              <a:ext uri="{FF2B5EF4-FFF2-40B4-BE49-F238E27FC236}">
                <a16:creationId xmlns:a16="http://schemas.microsoft.com/office/drawing/2014/main" id="{EC65BD0B-CDC6-4AFE-A59C-C6536C1D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17B"/>
                </a:solidFill>
              </a:defRPr>
            </a:pPr>
            <a:r>
              <a:rPr sz="1050" b="1">
                <a:solidFill>
                  <a:srgbClr val="00A17B"/>
                </a:solidFill>
              </a:rPr>
              <a:t>TARGET 5 / METHODOLOGY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465BF7B-4CC1-4A33-AA2D-5C7C29B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A fair probe changes features, not the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6A8C8-6A9F-4F01-B59D-8B362028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768"/>
                </a:solidFill>
              </a:defRPr>
            </a:pPr>
            <a:r>
              <a:rPr sz="900" b="0">
                <a:solidFill>
                  <a:srgbClr val="5E676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8B611-0914-47A6-A586-066FA99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1695450" cy="1476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151E2-02A6-43AC-A63D-53007D4E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38225"/>
            <a:ext cx="1590675" cy="1390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A9A66-FEA7-41E6-97A3-0458F11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62125"/>
            <a:ext cx="1219200" cy="10572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3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56E6A-90DD-40D3-BBF5-C2A60B10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17B"/>
                </a:solidFill>
              </a:defRPr>
            </a:pPr>
            <a:r>
              <a:rPr sz="1950" b="1">
                <a:solidFill>
                  <a:srgbClr val="00A17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69A7B-763F-4E86-98D0-ABEF6A1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14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Fixed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68AA4-EF91-4A45-AC26-E1FFFC16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768"/>
                </a:solidFill>
              </a:defRPr>
            </a:pPr>
            <a:r>
              <a:rPr sz="1425" b="0">
                <a:solidFill>
                  <a:srgbClr val="5E6768"/>
                </a:solidFill>
              </a:rPr>
              <a:t>4,460 train / 1,114 held-out; seed 42; held-out labels never edited.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E0EDD-FF02-4D0E-8054-69C3DAC0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F0BE0-2A31-4F6D-BD7D-0E0C58B2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B50"/>
                </a:solidFill>
              </a:defRPr>
            </a:pPr>
            <a:r>
              <a:rPr sz="1950" b="1">
                <a:solidFill>
                  <a:srgbClr val="004B5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F729F-82FC-406E-80E0-5B9ADD16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Controlled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2C2E4-DBD6-4AFC-BBED-5EDC076A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051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768"/>
                </a:solidFill>
              </a:defRPr>
            </a:pPr>
            <a:r>
              <a:rPr sz="1425" b="0">
                <a:solidFill>
                  <a:srgbClr val="5E6768"/>
                </a:solidFill>
              </a:rPr>
              <a:t>StandardScaler + Logistic Regression for every shallow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C33BF-2AB5-4C29-AD06-C1D15F86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A876F-9D84-4972-9B5A-126614EC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17B"/>
                </a:solidFill>
              </a:defRPr>
            </a:pPr>
            <a:r>
              <a:rPr sz="1950" b="1">
                <a:solidFill>
                  <a:srgbClr val="00A17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0525C-FDCA-4A6E-B4E5-AD0B68B0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Feature contrasts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99CD7-47F8-4958-A858-D2ED9A79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957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768"/>
                </a:solidFill>
              </a:defRPr>
            </a:pPr>
            <a:r>
              <a:rPr sz="1425" b="0">
                <a:solidFill>
                  <a:srgbClr val="5E6768"/>
                </a:solidFill>
              </a:rPr>
              <a:t>Shape, contact/promotion, row position, masked text and frozen full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AA8E1-151A-4B47-B362-269142AA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0EFBC-2050-4182-ACC5-8030E6F6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B50"/>
                </a:solidFill>
              </a:defRPr>
            </a:pPr>
            <a:r>
              <a:rPr sz="1950" b="1">
                <a:solidFill>
                  <a:srgbClr val="004B5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1669B-FE10-43EE-9B10-13451930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BC98B-38C6-44AF-B908-E9413A2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863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768"/>
                </a:solidFill>
              </a:defRPr>
            </a:pPr>
            <a:r>
              <a:rPr sz="1425" b="0">
                <a:solidFill>
                  <a:srgbClr val="5E6768"/>
                </a:solidFill>
              </a:rPr>
              <a:t>Accuracy plus spam recall and spam F1, because ham is 86.62% of the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A43CE-C48B-49E9-901C-29FA39EA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DD14F-5FC1-4D5A-8649-CA2858CC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B50"/>
                </a:solidFill>
              </a:defRPr>
            </a:pPr>
            <a:r>
              <a:rPr sz="1500" b="1">
                <a:solidFill>
                  <a:srgbClr val="004B50"/>
                </a:solidFill>
              </a:rPr>
              <a:t>Interpretation rule: high shallow performance signals reliance on surface correlations - not semantic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55884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3">
            <a:extLst xmlns:a="http://schemas.openxmlformats.org/drawingml/2006/main">
              <a:ext uri="{FF2B5EF4-FFF2-40B4-BE49-F238E27FC236}">
                <a16:creationId xmlns:a16="http://schemas.microsoft.com/office/drawing/2014/main" id="{ABBE6586-5B21-4BA0-ABF1-1B9CA363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17B"/>
                </a:solidFill>
              </a:defRPr>
            </a:pPr>
            <a:r>
              <a:rPr sz="1050" b="1">
                <a:solidFill>
                  <a:srgbClr val="00A17B"/>
                </a:solidFill>
              </a:rPr>
              <a:t>TARGET 5 / OUTCOME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1091825-82EB-4B42-98D2-4C29B93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Surface cues explain almost all headline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0EF4-2AA1-4A1C-8090-3B2D8EFB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768"/>
                </a:solidFill>
              </a:defRPr>
            </a:pPr>
            <a:r>
              <a:rPr sz="900" b="0">
                <a:solidFill>
                  <a:srgbClr val="5E676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9B869-9233-4F4D-810E-2E1306EA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1695450" cy="1476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EF089-B2D3-4E83-B9BE-997ECBEC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38225"/>
            <a:ext cx="1590675" cy="1390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963FD-6110-4DDE-A9CC-9609A628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62125"/>
            <a:ext cx="1219200" cy="10572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3E36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ef5e7578e749e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AD5A8-E3C9-4549-A8BC-37D94AE2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0A17B"/>
                </a:solidFill>
              </a:defRPr>
            </a:pPr>
            <a:r>
              <a:rPr sz="3375" b="1">
                <a:solidFill>
                  <a:srgbClr val="00A17B"/>
                </a:solidFill>
              </a:rPr>
              <a:t>98.11%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0A80-B1B3-4152-A6BB-9738FEBC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81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768"/>
                </a:solidFill>
              </a:defRPr>
            </a:pPr>
            <a:r>
              <a:rPr sz="1350" b="0">
                <a:solidFill>
                  <a:srgbClr val="5E6768"/>
                </a:solidFill>
              </a:rPr>
              <a:t>contact + promotion</a:t>
            </a:r>
          </a:p>
          <a:p xmlns:a="http://schemas.openxmlformats.org/drawingml/2006/main">
            <a:pPr algn="ctr">
              <a:defRPr sz="1350" b="0">
                <a:solidFill>
                  <a:srgbClr val="5E6768"/>
                </a:solidFill>
              </a:defRPr>
            </a:pPr>
            <a:r>
              <a:rPr sz="1350" b="0">
                <a:solidFill>
                  <a:srgbClr val="5E6768"/>
                </a:solidFill>
              </a:rPr>
              <a:t>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092B0-D3FD-409E-BDDD-E29DB43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052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50"/>
                </a:solidFill>
              </a:defRPr>
            </a:pPr>
            <a:r>
              <a:rPr sz="1650" b="1">
                <a:solidFill>
                  <a:srgbClr val="004B50"/>
                </a:solidFill>
              </a:rPr>
              <a:t>Row position = majority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802F1-2B24-4C5E-9FD6-21050912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529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768"/>
                </a:solidFill>
              </a:defRPr>
            </a:pPr>
            <a:r>
              <a:rPr sz="1350" b="0">
                <a:solidFill>
                  <a:srgbClr val="5E6768"/>
                </a:solidFill>
              </a:rPr>
              <a:t>No row-order shortcut was detected.</a:t>
            </a:r>
          </a:p>
        </p:txBody>
      </p:sp>
    </p:spTree>
    <p:extLst>
      <p:ext uri="{BB962C8B-B14F-4D97-AF65-F5344CB8AC3E}">
        <p14:creationId xmlns:p14="http://schemas.microsoft.com/office/powerpoint/2010/main" val="1619405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4">
            <a:extLst xmlns:a="http://schemas.openxmlformats.org/drawingml/2006/main">
              <a:ext uri="{FF2B5EF4-FFF2-40B4-BE49-F238E27FC236}">
                <a16:creationId xmlns:a16="http://schemas.microsoft.com/office/drawing/2014/main" id="{8E5EFA75-8FE5-44FB-AA2C-D61EE27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17B"/>
                </a:solidFill>
              </a:defRPr>
            </a:pPr>
            <a:r>
              <a:rPr sz="1050" b="1">
                <a:solidFill>
                  <a:srgbClr val="00A17B"/>
                </a:solidFill>
              </a:rPr>
              <a:t>TARGET 5 / REPRESENTATIVE CASES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91A1951-8E83-405A-A553-2DFE90D7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Shortcuts fail in both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90AAC-7C16-40F7-B5B4-A9402CBD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768"/>
                </a:solidFill>
              </a:defRPr>
            </a:pPr>
            <a:r>
              <a:rPr sz="900" b="0">
                <a:solidFill>
                  <a:srgbClr val="5E676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1DD1A-41E6-43C1-800F-BC74370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1695450" cy="1476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08EED-5AC2-46A7-892C-BE818AA9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38225"/>
            <a:ext cx="1590675" cy="1390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A421B-FE34-459F-A098-95AFA6B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62125"/>
            <a:ext cx="1219200" cy="10572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3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80228-5DE5-482F-AC26-4F04CD6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C7D8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CAF96-72C5-4B71-B2F9-949C905B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7843"/>
                </a:solidFill>
              </a:defRPr>
            </a:pPr>
            <a:r>
              <a:rPr sz="1650" b="1">
                <a:solidFill>
                  <a:srgbClr val="E87843"/>
                </a:solidFill>
              </a:rPr>
              <a:t>H0946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FDA23-AD2E-4877-A122-C1135D19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768"/>
                </a:solidFill>
              </a:defRPr>
            </a:pPr>
            <a:r>
              <a:rPr sz="1050" b="1">
                <a:solidFill>
                  <a:srgbClr val="5E6768"/>
                </a:solidFill>
              </a:rPr>
              <a:t>ham / false 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5DEF2-606D-4656-9259-2D35F64A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9146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</a:rPr>
              <a:t>A legitimate rent-price discussion is pushed toward spam by 11 digits and three currency markers.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2634D-A091-4DEA-BA93-7DDAC227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91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B048E-CF08-42DE-908C-AAFC86A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7843"/>
                </a:solidFill>
              </a:defRPr>
            </a:pPr>
            <a:r>
              <a:rPr sz="1275" b="1">
                <a:solidFill>
                  <a:srgbClr val="E87843"/>
                </a:solidFill>
              </a:rPr>
              <a:t>Shallow  0.992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E1A52-3F29-4469-A788-FAF06FA3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010"/>
                </a:solidFill>
              </a:defRPr>
            </a:pPr>
            <a:r>
              <a:rPr sz="1275" b="1">
                <a:solidFill>
                  <a:srgbClr val="101010"/>
                </a:solidFill>
              </a:rPr>
              <a:t>Full text  0.028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3FC43-EF5B-40DD-A993-7172B25F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C7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146C2-A0F3-4937-BF8C-F213AAE2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002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B50"/>
                </a:solidFill>
              </a:defRPr>
            </a:pPr>
            <a:r>
              <a:rPr sz="1650" b="1">
                <a:solidFill>
                  <a:srgbClr val="004B50"/>
                </a:solidFill>
              </a:rPr>
              <a:t>H0044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45450-FA74-46B9-8AD5-DFC490F4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768"/>
                </a:solidFill>
              </a:defRPr>
            </a:pPr>
            <a:r>
              <a:rPr sz="1050" b="1">
                <a:solidFill>
                  <a:srgbClr val="5E6768"/>
                </a:solidFill>
              </a:rPr>
              <a:t>spam / false 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687A1-163D-4292-B17B-6F8765E4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</a:rPr>
              <a:t>A ringtone-club solicitation lacks the usual phone and price pattern, so the shallow probe misses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7AEF6-781D-4CBA-A320-FD228CBE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00500"/>
            <a:ext cx="291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536D7-35B6-4F17-B756-E5F7C7A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00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B50"/>
                </a:solidFill>
              </a:defRPr>
            </a:pPr>
            <a:r>
              <a:rPr sz="1275" b="1">
                <a:solidFill>
                  <a:srgbClr val="004B50"/>
                </a:solidFill>
              </a:rPr>
              <a:t>Shallow  0.085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0F2C6-689F-4F07-89AE-6E8BD9D5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1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010"/>
                </a:solidFill>
              </a:defRPr>
            </a:pPr>
            <a:r>
              <a:rPr sz="1275" b="1">
                <a:solidFill>
                  <a:srgbClr val="101010"/>
                </a:solidFill>
              </a:rPr>
              <a:t>Full text  0.961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AF671-2CA8-4861-A763-332D836A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C7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B1A2C-C2D6-4313-B3A2-2C11AA91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17B"/>
                </a:solidFill>
              </a:defRPr>
            </a:pPr>
            <a:r>
              <a:rPr sz="1650" b="1">
                <a:solidFill>
                  <a:srgbClr val="00A17B"/>
                </a:solidFill>
              </a:rPr>
              <a:t>H0287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38E05-CE99-49A3-98A5-179BD59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768"/>
                </a:solidFill>
              </a:defRPr>
            </a:pPr>
            <a:r>
              <a:rPr sz="1050" b="1">
                <a:solidFill>
                  <a:srgbClr val="5E6768"/>
                </a:solidFill>
              </a:rPr>
              <a:t>spam / shallow rescue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EF339-7F26-4E3A-B41D-E274A0EF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9146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</a:rPr>
              <a:t>A premium-rate adult-chat lure is recovered mainly from its phone number and price cue.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62D66-4FE9-435E-9340-A18478B2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91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E16BDD-C1A0-454F-9523-5703B5A5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17B"/>
                </a:solidFill>
              </a:defRPr>
            </a:pPr>
            <a:r>
              <a:rPr sz="1275" b="1">
                <a:solidFill>
                  <a:srgbClr val="00A17B"/>
                </a:solidFill>
              </a:rPr>
              <a:t>Shallow  0.997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9E78E-EF5B-4901-BCB3-62C73528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1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010"/>
                </a:solidFill>
              </a:defRPr>
            </a:pPr>
            <a:r>
              <a:rPr sz="1275" b="1">
                <a:solidFill>
                  <a:srgbClr val="101010"/>
                </a:solidFill>
              </a:rPr>
              <a:t>Full text  0.305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7E1D1-4E7C-4E4F-87E7-C5CF17E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19750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4B50"/>
                </a:solidFill>
              </a:defRPr>
            </a:pPr>
            <a:r>
              <a:rPr sz="1575" b="1">
                <a:solidFill>
                  <a:srgbClr val="004B50"/>
                </a:solidFill>
              </a:rPr>
              <a:t>High average performance does not guarantee robustness when the cue distribution changes.</a:t>
            </a:r>
          </a:p>
        </p:txBody>
      </p:sp>
    </p:spTree>
    <p:extLst>
      <p:ext uri="{BB962C8B-B14F-4D97-AF65-F5344CB8AC3E}">
        <p14:creationId xmlns:p14="http://schemas.microsoft.com/office/powerpoint/2010/main" val="316168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5">
            <a:extLst xmlns:a="http://schemas.openxmlformats.org/drawingml/2006/main">
              <a:ext uri="{FF2B5EF4-FFF2-40B4-BE49-F238E27FC236}">
                <a16:creationId xmlns:a16="http://schemas.microsoft.com/office/drawing/2014/main" id="{39211EC2-C54D-4837-A293-B7FEE55D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17B"/>
                </a:solidFill>
              </a:defRPr>
            </a:pPr>
            <a:r>
              <a:rPr sz="1050" b="1">
                <a:solidFill>
                  <a:srgbClr val="00A17B"/>
                </a:solidFill>
              </a:rPr>
              <a:t>DATA INTERVENTIONS / OUTCOME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D2CFC25-4AB8-4E4C-A70F-8FAE997C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Interventions move the score in opposite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04383-056A-4862-A4AC-6DBDAD3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768"/>
                </a:solidFill>
              </a:defRPr>
            </a:pPr>
            <a:r>
              <a:rPr sz="900" b="0">
                <a:solidFill>
                  <a:srgbClr val="5E676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744C9-0CB9-4CBE-9A3F-DDDADDE4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1695450" cy="1476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956C9-49B0-4C9E-B124-C917861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38225"/>
            <a:ext cx="1590675" cy="1390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67606-8471-4053-9F9B-660C1DB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62125"/>
            <a:ext cx="1219200" cy="10572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3E36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7810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0ff1bf60ac4bd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176E1-CE5F-415D-8594-075D8AC6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4B50"/>
                </a:solidFill>
              </a:defRPr>
            </a:pPr>
            <a:r>
              <a:rPr sz="3600" b="1">
                <a:solidFill>
                  <a:srgbClr val="004B50"/>
                </a:solidFill>
              </a:rPr>
              <a:t>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3C6CD-21EA-4CD5-96EA-803ACEF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768"/>
                </a:solidFill>
              </a:defRPr>
            </a:pPr>
            <a:r>
              <a:rPr sz="1350" b="0">
                <a:solidFill>
                  <a:srgbClr val="5E6768"/>
                </a:solidFill>
              </a:rPr>
              <a:t>leaked held-out rows removed</a:t>
            </a:r>
          </a:p>
          <a:p xmlns:a="http://schemas.openxmlformats.org/drawingml/2006/main">
            <a:pPr algn="ctr">
              <a:defRPr sz="1350" b="0">
                <a:solidFill>
                  <a:srgbClr val="5E6768"/>
                </a:solidFill>
              </a:defRPr>
            </a:pPr>
            <a:r>
              <a:rPr sz="1350" b="0">
                <a:solidFill>
                  <a:srgbClr val="5E6768"/>
                </a:solidFill>
              </a:rPr>
              <a:t>from the clean evaluation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31577-BE85-43DD-83CC-A39FCF0D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00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87843"/>
                </a:solidFill>
              </a:defRPr>
            </a:pPr>
            <a:r>
              <a:rPr sz="2850" b="1">
                <a:solidFill>
                  <a:srgbClr val="E87843"/>
                </a:solidFill>
              </a:rPr>
              <a:t>-2.39 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B035F-45EC-4FE3-8FF5-35561D8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72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768"/>
                </a:solidFill>
              </a:defRPr>
            </a:pPr>
            <a:r>
              <a:rPr sz="1350" b="0">
                <a:solidFill>
                  <a:srgbClr val="5E6768"/>
                </a:solidFill>
              </a:rPr>
              <a:t>combined-view spam F1</a:t>
            </a:r>
          </a:p>
        </p:txBody>
      </p:sp>
    </p:spTree>
    <p:extLst>
      <p:ext uri="{BB962C8B-B14F-4D97-AF65-F5344CB8AC3E}">
        <p14:creationId xmlns:p14="http://schemas.microsoft.com/office/powerpoint/2010/main" val="1462633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4B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B0EE9-56D5-4CB4-9F7D-FDB9E4B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2000250" cy="17335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E00D9-0ACE-497F-8E43-C00B707B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524000" cy="13239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3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47C4-9980-4AE1-8FFE-17B92CED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E36A"/>
                </a:solidFill>
              </a:defRPr>
            </a:pPr>
            <a:r>
              <a:rPr sz="1050" b="1">
                <a:solidFill>
                  <a:srgbClr val="A3E36A"/>
                </a:solidFill>
              </a:rPr>
              <a:t>DATA INTERVENTIONS / IMPLICATION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FB639-23EC-40BA-B572-1276D3A9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Interventions reveal how the benchmark is distorted.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FCBF3-8BC1-4971-B460-AA7C6EB4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908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99.10 -&gt; 99.37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B4865-6A03-42C6-8D55-DC9EC4E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290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7E3"/>
                </a:solidFill>
              </a:defRPr>
            </a:pPr>
            <a:r>
              <a:rPr sz="1350" b="0">
                <a:solidFill>
                  <a:srgbClr val="D7E7E3"/>
                </a:solidFill>
              </a:rPr>
              <a:t>Adjudication-aware accuracy; partly circular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F2C9C-C688-4D09-8850-10052603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908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3E36A"/>
                </a:solidFill>
              </a:defRPr>
            </a:pPr>
            <a:r>
              <a:rPr sz="2250" b="1">
                <a:solidFill>
                  <a:srgbClr val="A3E36A"/>
                </a:solidFill>
              </a:rPr>
              <a:t>96.55 -&gt; 94.16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E1C5D-EB99-4D96-86F5-6C05E768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290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7E3"/>
                </a:solidFill>
              </a:defRPr>
            </a:pPr>
            <a:r>
              <a:rPr sz="1350" b="0">
                <a:solidFill>
                  <a:srgbClr val="D7E7E3"/>
                </a:solidFill>
              </a:rPr>
              <a:t>Spam F1 after all training-side interventions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A7809-8DE5-4CCD-9B79-7DBEE2DA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908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93.96 -&gt; 90.91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96CC3-ACCF-4782-88B3-C99AEA64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290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7E3"/>
                </a:solidFill>
              </a:defRPr>
            </a:pPr>
            <a:r>
              <a:rPr sz="1350" b="0">
                <a:solidFill>
                  <a:srgbClr val="D7E7E3"/>
                </a:solidFill>
              </a:rPr>
              <a:t>Spam recall after leakage-aware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44214-7768-4CAC-8939-0FC5AFD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2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3E36A"/>
                </a:solidFill>
              </a:defRPr>
            </a:pPr>
            <a:r>
              <a:rPr sz="1725" b="1">
                <a:solidFill>
                  <a:srgbClr val="A3E36A"/>
                </a:solidFill>
              </a:rPr>
              <a:t>The intervention goal is a more credible generalization claim - not a higher benchmark number.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7CA18-61AC-48BA-A42C-EA3190A4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6C9C5"/>
                </a:solidFill>
              </a:defRPr>
            </a:pPr>
            <a:r>
              <a:rPr sz="900" b="0">
                <a:solidFill>
                  <a:srgbClr val="B6C9C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8464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2026-07-21T11:39:33.7630000Z</dcterms:created>
  <dcterms:modified xsi:type="dcterms:W3CDTF">2026-07-21T11:39:33.7640000Z</dcterms:modified>
</coreProperties>
</file>